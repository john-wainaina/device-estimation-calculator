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C8A1F2-A275-4E28-8079-546108626EA4}" v="6" dt="2026-02-12T11:10:19.125"/>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59" d="100"/>
          <a:sy n="59" d="100"/>
        </p:scale>
        <p:origin x="945"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wangi" userId="72dc851f-8d8f-4a59-88b4-7c5e044853c3" providerId="ADAL" clId="{3437D3E5-8980-4486-9498-DD33F02BC9E8}"/>
    <pc:docChg chg="undo custSel modSld">
      <pc:chgData name="John Mwangi" userId="72dc851f-8d8f-4a59-88b4-7c5e044853c3" providerId="ADAL" clId="{3437D3E5-8980-4486-9498-DD33F02BC9E8}" dt="2026-02-12T11:10:58.843" v="353" actId="113"/>
      <pc:docMkLst>
        <pc:docMk/>
      </pc:docMkLst>
      <pc:sldChg chg="modSp mod">
        <pc:chgData name="John Mwangi" userId="72dc851f-8d8f-4a59-88b4-7c5e044853c3" providerId="ADAL" clId="{3437D3E5-8980-4486-9498-DD33F02BC9E8}" dt="2026-02-12T11:10:58.843" v="353" actId="113"/>
        <pc:sldMkLst>
          <pc:docMk/>
          <pc:sldMk cId="412950278" sldId="256"/>
        </pc:sldMkLst>
        <pc:spChg chg="mod">
          <ac:chgData name="John Mwangi" userId="72dc851f-8d8f-4a59-88b4-7c5e044853c3" providerId="ADAL" clId="{3437D3E5-8980-4486-9498-DD33F02BC9E8}" dt="2026-02-12T11:10:58.843" v="353" actId="113"/>
          <ac:spMkLst>
            <pc:docMk/>
            <pc:sldMk cId="412950278" sldId="256"/>
            <ac:spMk id="2" creationId="{66985BD6-165D-3312-CF50-F268560ECB59}"/>
          </ac:spMkLst>
        </pc:spChg>
      </pc:sldChg>
      <pc:sldChg chg="modSp mod">
        <pc:chgData name="John Mwangi" userId="72dc851f-8d8f-4a59-88b4-7c5e044853c3" providerId="ADAL" clId="{3437D3E5-8980-4486-9498-DD33F02BC9E8}" dt="2026-02-12T11:07:36.291" v="298" actId="27636"/>
        <pc:sldMkLst>
          <pc:docMk/>
          <pc:sldMk cId="780859234" sldId="257"/>
        </pc:sldMkLst>
        <pc:spChg chg="mod">
          <ac:chgData name="John Mwangi" userId="72dc851f-8d8f-4a59-88b4-7c5e044853c3" providerId="ADAL" clId="{3437D3E5-8980-4486-9498-DD33F02BC9E8}" dt="2026-02-12T11:04:34.462" v="221" actId="113"/>
          <ac:spMkLst>
            <pc:docMk/>
            <pc:sldMk cId="780859234" sldId="257"/>
            <ac:spMk id="2" creationId="{48AABF81-61DF-5C60-F383-A5502C5D6360}"/>
          </ac:spMkLst>
        </pc:spChg>
        <pc:spChg chg="mod">
          <ac:chgData name="John Mwangi" userId="72dc851f-8d8f-4a59-88b4-7c5e044853c3" providerId="ADAL" clId="{3437D3E5-8980-4486-9498-DD33F02BC9E8}" dt="2026-02-12T11:07:36.291" v="298" actId="27636"/>
          <ac:spMkLst>
            <pc:docMk/>
            <pc:sldMk cId="780859234" sldId="257"/>
            <ac:spMk id="3" creationId="{DC60787C-83D4-0189-A697-9BE9CD1FA20E}"/>
          </ac:spMkLst>
        </pc:spChg>
      </pc:sldChg>
      <pc:sldChg chg="addSp delSp modSp mod">
        <pc:chgData name="John Mwangi" userId="72dc851f-8d8f-4a59-88b4-7c5e044853c3" providerId="ADAL" clId="{3437D3E5-8980-4486-9498-DD33F02BC9E8}" dt="2026-02-12T11:10:27.728" v="318" actId="1076"/>
        <pc:sldMkLst>
          <pc:docMk/>
          <pc:sldMk cId="1419468584" sldId="258"/>
        </pc:sldMkLst>
        <pc:spChg chg="mod">
          <ac:chgData name="John Mwangi" userId="72dc851f-8d8f-4a59-88b4-7c5e044853c3" providerId="ADAL" clId="{3437D3E5-8980-4486-9498-DD33F02BC9E8}" dt="2026-02-12T11:10:27.728" v="318" actId="1076"/>
          <ac:spMkLst>
            <pc:docMk/>
            <pc:sldMk cId="1419468584" sldId="258"/>
            <ac:spMk id="2" creationId="{0402A185-FF56-0432-60B1-8BA7B4CE26F7}"/>
          </ac:spMkLst>
        </pc:spChg>
        <pc:spChg chg="del mod">
          <ac:chgData name="John Mwangi" userId="72dc851f-8d8f-4a59-88b4-7c5e044853c3" providerId="ADAL" clId="{3437D3E5-8980-4486-9498-DD33F02BC9E8}" dt="2026-02-12T11:09:16.592" v="305"/>
          <ac:spMkLst>
            <pc:docMk/>
            <pc:sldMk cId="1419468584" sldId="258"/>
            <ac:spMk id="3" creationId="{530C3D7B-724A-06F4-3B29-CECC5E7CF2F6}"/>
          </ac:spMkLst>
        </pc:spChg>
        <pc:spChg chg="add mod">
          <ac:chgData name="John Mwangi" userId="72dc851f-8d8f-4a59-88b4-7c5e044853c3" providerId="ADAL" clId="{3437D3E5-8980-4486-9498-DD33F02BC9E8}" dt="2026-02-12T11:10:19.125" v="317" actId="14100"/>
          <ac:spMkLst>
            <pc:docMk/>
            <pc:sldMk cId="1419468584" sldId="258"/>
            <ac:spMk id="4" creationId="{8713A84A-E737-56AA-72DC-3706A996FEE4}"/>
          </ac:spMkLst>
        </pc:spChg>
      </pc:sldChg>
      <pc:sldChg chg="modSp mod">
        <pc:chgData name="John Mwangi" userId="72dc851f-8d8f-4a59-88b4-7c5e044853c3" providerId="ADAL" clId="{3437D3E5-8980-4486-9498-DD33F02BC9E8}" dt="2026-02-12T11:10:45.788" v="352" actId="404"/>
        <pc:sldMkLst>
          <pc:docMk/>
          <pc:sldMk cId="2088500874" sldId="259"/>
        </pc:sldMkLst>
        <pc:spChg chg="mod">
          <ac:chgData name="John Mwangi" userId="72dc851f-8d8f-4a59-88b4-7c5e044853c3" providerId="ADAL" clId="{3437D3E5-8980-4486-9498-DD33F02BC9E8}" dt="2026-02-12T11:10:45.788" v="352" actId="404"/>
          <ac:spMkLst>
            <pc:docMk/>
            <pc:sldMk cId="2088500874" sldId="259"/>
            <ac:spMk id="2" creationId="{1DA9C619-55EC-F956-3CC5-712033D845D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40E58-9F26-8FB5-3651-3EB95FD74D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A6A1A8-3F91-B825-2860-A04867A0D8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AE4C74-C37F-F934-8812-78AA1850AE63}"/>
              </a:ext>
            </a:extLst>
          </p:cNvPr>
          <p:cNvSpPr>
            <a:spLocks noGrp="1"/>
          </p:cNvSpPr>
          <p:nvPr>
            <p:ph type="dt" sz="half" idx="10"/>
          </p:nvPr>
        </p:nvSpPr>
        <p:spPr/>
        <p:txBody>
          <a:bodyPr/>
          <a:lstStyle/>
          <a:p>
            <a:fld id="{8763BE27-5842-4AA3-8F41-684815356A4A}" type="datetimeFigureOut">
              <a:rPr lang="en-US" smtClean="0"/>
              <a:t>2/12/2026</a:t>
            </a:fld>
            <a:endParaRPr lang="en-US"/>
          </a:p>
        </p:txBody>
      </p:sp>
      <p:sp>
        <p:nvSpPr>
          <p:cNvPr id="5" name="Footer Placeholder 4">
            <a:extLst>
              <a:ext uri="{FF2B5EF4-FFF2-40B4-BE49-F238E27FC236}">
                <a16:creationId xmlns:a16="http://schemas.microsoft.com/office/drawing/2014/main" id="{819C4FAF-EFBD-7028-6DBD-8CA088120A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5A573-EE0C-F84D-DB38-CD147224F41C}"/>
              </a:ext>
            </a:extLst>
          </p:cNvPr>
          <p:cNvSpPr>
            <a:spLocks noGrp="1"/>
          </p:cNvSpPr>
          <p:nvPr>
            <p:ph type="sldNum" sz="quarter" idx="12"/>
          </p:nvPr>
        </p:nvSpPr>
        <p:spPr/>
        <p:txBody>
          <a:bodyPr/>
          <a:lstStyle/>
          <a:p>
            <a:fld id="{E072493F-0578-4168-9B20-C0CFEB192159}" type="slidenum">
              <a:rPr lang="en-US" smtClean="0"/>
              <a:t>‹#›</a:t>
            </a:fld>
            <a:endParaRPr lang="en-US"/>
          </a:p>
        </p:txBody>
      </p:sp>
    </p:spTree>
    <p:extLst>
      <p:ext uri="{BB962C8B-B14F-4D97-AF65-F5344CB8AC3E}">
        <p14:creationId xmlns:p14="http://schemas.microsoft.com/office/powerpoint/2010/main" val="3401287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638A1-E4AB-A40B-6DAF-1CE048CAC9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2E58EE-0364-C91E-3B9E-33707B77D3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2C7B10-823E-77F0-2C7C-1D3EB42BA9F4}"/>
              </a:ext>
            </a:extLst>
          </p:cNvPr>
          <p:cNvSpPr>
            <a:spLocks noGrp="1"/>
          </p:cNvSpPr>
          <p:nvPr>
            <p:ph type="dt" sz="half" idx="10"/>
          </p:nvPr>
        </p:nvSpPr>
        <p:spPr/>
        <p:txBody>
          <a:bodyPr/>
          <a:lstStyle/>
          <a:p>
            <a:fld id="{8763BE27-5842-4AA3-8F41-684815356A4A}" type="datetimeFigureOut">
              <a:rPr lang="en-US" smtClean="0"/>
              <a:t>2/12/2026</a:t>
            </a:fld>
            <a:endParaRPr lang="en-US"/>
          </a:p>
        </p:txBody>
      </p:sp>
      <p:sp>
        <p:nvSpPr>
          <p:cNvPr id="5" name="Footer Placeholder 4">
            <a:extLst>
              <a:ext uri="{FF2B5EF4-FFF2-40B4-BE49-F238E27FC236}">
                <a16:creationId xmlns:a16="http://schemas.microsoft.com/office/drawing/2014/main" id="{6C5F569A-A72C-8234-6F3A-C079EB4ED9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7F87B-F06A-E3CD-A8ED-F93F107EEB90}"/>
              </a:ext>
            </a:extLst>
          </p:cNvPr>
          <p:cNvSpPr>
            <a:spLocks noGrp="1"/>
          </p:cNvSpPr>
          <p:nvPr>
            <p:ph type="sldNum" sz="quarter" idx="12"/>
          </p:nvPr>
        </p:nvSpPr>
        <p:spPr/>
        <p:txBody>
          <a:bodyPr/>
          <a:lstStyle/>
          <a:p>
            <a:fld id="{E072493F-0578-4168-9B20-C0CFEB192159}" type="slidenum">
              <a:rPr lang="en-US" smtClean="0"/>
              <a:t>‹#›</a:t>
            </a:fld>
            <a:endParaRPr lang="en-US"/>
          </a:p>
        </p:txBody>
      </p:sp>
    </p:spTree>
    <p:extLst>
      <p:ext uri="{BB962C8B-B14F-4D97-AF65-F5344CB8AC3E}">
        <p14:creationId xmlns:p14="http://schemas.microsoft.com/office/powerpoint/2010/main" val="4273961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AB145-94CD-136F-FED0-3CB0D27140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DCDCBE-660C-60E2-34BF-48691D24F7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05A90A-D653-E692-37FF-2F5E22666003}"/>
              </a:ext>
            </a:extLst>
          </p:cNvPr>
          <p:cNvSpPr>
            <a:spLocks noGrp="1"/>
          </p:cNvSpPr>
          <p:nvPr>
            <p:ph type="dt" sz="half" idx="10"/>
          </p:nvPr>
        </p:nvSpPr>
        <p:spPr/>
        <p:txBody>
          <a:bodyPr/>
          <a:lstStyle/>
          <a:p>
            <a:fld id="{8763BE27-5842-4AA3-8F41-684815356A4A}" type="datetimeFigureOut">
              <a:rPr lang="en-US" smtClean="0"/>
              <a:t>2/12/2026</a:t>
            </a:fld>
            <a:endParaRPr lang="en-US"/>
          </a:p>
        </p:txBody>
      </p:sp>
      <p:sp>
        <p:nvSpPr>
          <p:cNvPr id="5" name="Footer Placeholder 4">
            <a:extLst>
              <a:ext uri="{FF2B5EF4-FFF2-40B4-BE49-F238E27FC236}">
                <a16:creationId xmlns:a16="http://schemas.microsoft.com/office/drawing/2014/main" id="{0A641A48-2B8E-7327-C747-DEA6BCB842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750AE6-94AB-0025-CD49-1E7F80CCE46B}"/>
              </a:ext>
            </a:extLst>
          </p:cNvPr>
          <p:cNvSpPr>
            <a:spLocks noGrp="1"/>
          </p:cNvSpPr>
          <p:nvPr>
            <p:ph type="sldNum" sz="quarter" idx="12"/>
          </p:nvPr>
        </p:nvSpPr>
        <p:spPr/>
        <p:txBody>
          <a:bodyPr/>
          <a:lstStyle/>
          <a:p>
            <a:fld id="{E072493F-0578-4168-9B20-C0CFEB192159}" type="slidenum">
              <a:rPr lang="en-US" smtClean="0"/>
              <a:t>‹#›</a:t>
            </a:fld>
            <a:endParaRPr lang="en-US"/>
          </a:p>
        </p:txBody>
      </p:sp>
    </p:spTree>
    <p:extLst>
      <p:ext uri="{BB962C8B-B14F-4D97-AF65-F5344CB8AC3E}">
        <p14:creationId xmlns:p14="http://schemas.microsoft.com/office/powerpoint/2010/main" val="1731849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77119-4548-C330-BEC6-3195C14155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2E30DC-370D-B07B-46D3-FB25D3A2E8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A154C9-1004-17B6-8DC8-88CFB370C2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29C485-24C0-8456-783C-829A5CBA61C2}"/>
              </a:ext>
            </a:extLst>
          </p:cNvPr>
          <p:cNvSpPr>
            <a:spLocks noGrp="1"/>
          </p:cNvSpPr>
          <p:nvPr>
            <p:ph type="dt" sz="half" idx="10"/>
          </p:nvPr>
        </p:nvSpPr>
        <p:spPr/>
        <p:txBody>
          <a:bodyPr/>
          <a:lstStyle/>
          <a:p>
            <a:fld id="{8763BE27-5842-4AA3-8F41-684815356A4A}" type="datetimeFigureOut">
              <a:rPr lang="en-US" smtClean="0"/>
              <a:t>2/12/2026</a:t>
            </a:fld>
            <a:endParaRPr lang="en-US"/>
          </a:p>
        </p:txBody>
      </p:sp>
      <p:sp>
        <p:nvSpPr>
          <p:cNvPr id="6" name="Footer Placeholder 5">
            <a:extLst>
              <a:ext uri="{FF2B5EF4-FFF2-40B4-BE49-F238E27FC236}">
                <a16:creationId xmlns:a16="http://schemas.microsoft.com/office/drawing/2014/main" id="{7E3891C4-9BBD-3607-1198-16428F7FBD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E22618-1DDC-AF33-30DA-B1E987CB8626}"/>
              </a:ext>
            </a:extLst>
          </p:cNvPr>
          <p:cNvSpPr>
            <a:spLocks noGrp="1"/>
          </p:cNvSpPr>
          <p:nvPr>
            <p:ph type="sldNum" sz="quarter" idx="12"/>
          </p:nvPr>
        </p:nvSpPr>
        <p:spPr/>
        <p:txBody>
          <a:bodyPr/>
          <a:lstStyle/>
          <a:p>
            <a:fld id="{E072493F-0578-4168-9B20-C0CFEB192159}" type="slidenum">
              <a:rPr lang="en-US" smtClean="0"/>
              <a:t>‹#›</a:t>
            </a:fld>
            <a:endParaRPr lang="en-US"/>
          </a:p>
        </p:txBody>
      </p:sp>
    </p:spTree>
    <p:extLst>
      <p:ext uri="{BB962C8B-B14F-4D97-AF65-F5344CB8AC3E}">
        <p14:creationId xmlns:p14="http://schemas.microsoft.com/office/powerpoint/2010/main" val="1218581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0DAC2-7016-9DE7-4BC6-7F897DCD91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2FC5E0-B649-8417-8931-061B780A62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838C18-6547-26D2-DCC4-AAB273417B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A9D538-89AF-B239-A3B3-4BF5E22906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B6BB4E-DED2-F507-3F4A-9CCF94884E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4323E3-3191-B12C-FB85-7F08C87E7EAF}"/>
              </a:ext>
            </a:extLst>
          </p:cNvPr>
          <p:cNvSpPr>
            <a:spLocks noGrp="1"/>
          </p:cNvSpPr>
          <p:nvPr>
            <p:ph type="dt" sz="half" idx="10"/>
          </p:nvPr>
        </p:nvSpPr>
        <p:spPr/>
        <p:txBody>
          <a:bodyPr/>
          <a:lstStyle/>
          <a:p>
            <a:fld id="{8763BE27-5842-4AA3-8F41-684815356A4A}" type="datetimeFigureOut">
              <a:rPr lang="en-US" smtClean="0"/>
              <a:t>2/12/2026</a:t>
            </a:fld>
            <a:endParaRPr lang="en-US"/>
          </a:p>
        </p:txBody>
      </p:sp>
      <p:sp>
        <p:nvSpPr>
          <p:cNvPr id="8" name="Footer Placeholder 7">
            <a:extLst>
              <a:ext uri="{FF2B5EF4-FFF2-40B4-BE49-F238E27FC236}">
                <a16:creationId xmlns:a16="http://schemas.microsoft.com/office/drawing/2014/main" id="{54243F97-4669-9AD0-1FBC-0388B629C3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980C00-E654-FC2E-59C9-BD334CF1936A}"/>
              </a:ext>
            </a:extLst>
          </p:cNvPr>
          <p:cNvSpPr>
            <a:spLocks noGrp="1"/>
          </p:cNvSpPr>
          <p:nvPr>
            <p:ph type="sldNum" sz="quarter" idx="12"/>
          </p:nvPr>
        </p:nvSpPr>
        <p:spPr/>
        <p:txBody>
          <a:bodyPr/>
          <a:lstStyle/>
          <a:p>
            <a:fld id="{E072493F-0578-4168-9B20-C0CFEB192159}" type="slidenum">
              <a:rPr lang="en-US" smtClean="0"/>
              <a:t>‹#›</a:t>
            </a:fld>
            <a:endParaRPr lang="en-US"/>
          </a:p>
        </p:txBody>
      </p:sp>
    </p:spTree>
    <p:extLst>
      <p:ext uri="{BB962C8B-B14F-4D97-AF65-F5344CB8AC3E}">
        <p14:creationId xmlns:p14="http://schemas.microsoft.com/office/powerpoint/2010/main" val="2698466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29D9F-85D0-6F39-FF9E-00A27D98B0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514BA8C-46AE-47EC-14BE-C564AB7394D2}"/>
              </a:ext>
            </a:extLst>
          </p:cNvPr>
          <p:cNvSpPr>
            <a:spLocks noGrp="1"/>
          </p:cNvSpPr>
          <p:nvPr>
            <p:ph type="dt" sz="half" idx="10"/>
          </p:nvPr>
        </p:nvSpPr>
        <p:spPr/>
        <p:txBody>
          <a:bodyPr/>
          <a:lstStyle/>
          <a:p>
            <a:fld id="{8763BE27-5842-4AA3-8F41-684815356A4A}" type="datetimeFigureOut">
              <a:rPr lang="en-US" smtClean="0"/>
              <a:t>2/12/2026</a:t>
            </a:fld>
            <a:endParaRPr lang="en-US"/>
          </a:p>
        </p:txBody>
      </p:sp>
      <p:sp>
        <p:nvSpPr>
          <p:cNvPr id="4" name="Footer Placeholder 3">
            <a:extLst>
              <a:ext uri="{FF2B5EF4-FFF2-40B4-BE49-F238E27FC236}">
                <a16:creationId xmlns:a16="http://schemas.microsoft.com/office/drawing/2014/main" id="{E713B958-FABE-CDCC-E573-EBA61EE26B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87C8CA-B5A6-AA4E-8052-9487212CD6FB}"/>
              </a:ext>
            </a:extLst>
          </p:cNvPr>
          <p:cNvSpPr>
            <a:spLocks noGrp="1"/>
          </p:cNvSpPr>
          <p:nvPr>
            <p:ph type="sldNum" sz="quarter" idx="12"/>
          </p:nvPr>
        </p:nvSpPr>
        <p:spPr/>
        <p:txBody>
          <a:bodyPr/>
          <a:lstStyle/>
          <a:p>
            <a:fld id="{E072493F-0578-4168-9B20-C0CFEB192159}" type="slidenum">
              <a:rPr lang="en-US" smtClean="0"/>
              <a:t>‹#›</a:t>
            </a:fld>
            <a:endParaRPr lang="en-US"/>
          </a:p>
        </p:txBody>
      </p:sp>
    </p:spTree>
    <p:extLst>
      <p:ext uri="{BB962C8B-B14F-4D97-AF65-F5344CB8AC3E}">
        <p14:creationId xmlns:p14="http://schemas.microsoft.com/office/powerpoint/2010/main" val="2738652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918B1A-6F54-91E4-3514-2E376F03FC37}"/>
              </a:ext>
            </a:extLst>
          </p:cNvPr>
          <p:cNvSpPr>
            <a:spLocks noGrp="1"/>
          </p:cNvSpPr>
          <p:nvPr>
            <p:ph type="dt" sz="half" idx="10"/>
          </p:nvPr>
        </p:nvSpPr>
        <p:spPr/>
        <p:txBody>
          <a:bodyPr/>
          <a:lstStyle/>
          <a:p>
            <a:fld id="{8763BE27-5842-4AA3-8F41-684815356A4A}" type="datetimeFigureOut">
              <a:rPr lang="en-US" smtClean="0"/>
              <a:t>2/12/2026</a:t>
            </a:fld>
            <a:endParaRPr lang="en-US"/>
          </a:p>
        </p:txBody>
      </p:sp>
      <p:sp>
        <p:nvSpPr>
          <p:cNvPr id="3" name="Footer Placeholder 2">
            <a:extLst>
              <a:ext uri="{FF2B5EF4-FFF2-40B4-BE49-F238E27FC236}">
                <a16:creationId xmlns:a16="http://schemas.microsoft.com/office/drawing/2014/main" id="{5E3016C6-3B88-159F-2793-457EC0DCDD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8A8D16-92D4-B002-DFF9-845654196B6E}"/>
              </a:ext>
            </a:extLst>
          </p:cNvPr>
          <p:cNvSpPr>
            <a:spLocks noGrp="1"/>
          </p:cNvSpPr>
          <p:nvPr>
            <p:ph type="sldNum" sz="quarter" idx="12"/>
          </p:nvPr>
        </p:nvSpPr>
        <p:spPr/>
        <p:txBody>
          <a:bodyPr/>
          <a:lstStyle/>
          <a:p>
            <a:fld id="{E072493F-0578-4168-9B20-C0CFEB192159}" type="slidenum">
              <a:rPr lang="en-US" smtClean="0"/>
              <a:t>‹#›</a:t>
            </a:fld>
            <a:endParaRPr lang="en-US"/>
          </a:p>
        </p:txBody>
      </p:sp>
    </p:spTree>
    <p:extLst>
      <p:ext uri="{BB962C8B-B14F-4D97-AF65-F5344CB8AC3E}">
        <p14:creationId xmlns:p14="http://schemas.microsoft.com/office/powerpoint/2010/main" val="3806639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E10ED-D6B8-4778-8216-F53ECD1977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BF24A4-0E32-308A-6CBB-8DFCB504F9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35407C-ACC8-6686-C0DC-4D2463AEA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6F383E-141C-5400-FC31-3D6322C7FBE5}"/>
              </a:ext>
            </a:extLst>
          </p:cNvPr>
          <p:cNvSpPr>
            <a:spLocks noGrp="1"/>
          </p:cNvSpPr>
          <p:nvPr>
            <p:ph type="dt" sz="half" idx="10"/>
          </p:nvPr>
        </p:nvSpPr>
        <p:spPr/>
        <p:txBody>
          <a:bodyPr/>
          <a:lstStyle/>
          <a:p>
            <a:fld id="{8763BE27-5842-4AA3-8F41-684815356A4A}" type="datetimeFigureOut">
              <a:rPr lang="en-US" smtClean="0"/>
              <a:t>2/12/2026</a:t>
            </a:fld>
            <a:endParaRPr lang="en-US"/>
          </a:p>
        </p:txBody>
      </p:sp>
      <p:sp>
        <p:nvSpPr>
          <p:cNvPr id="6" name="Footer Placeholder 5">
            <a:extLst>
              <a:ext uri="{FF2B5EF4-FFF2-40B4-BE49-F238E27FC236}">
                <a16:creationId xmlns:a16="http://schemas.microsoft.com/office/drawing/2014/main" id="{A157D621-91EC-C3F3-C817-1A87568772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83965B-6F71-601E-6F94-7891B42B2037}"/>
              </a:ext>
            </a:extLst>
          </p:cNvPr>
          <p:cNvSpPr>
            <a:spLocks noGrp="1"/>
          </p:cNvSpPr>
          <p:nvPr>
            <p:ph type="sldNum" sz="quarter" idx="12"/>
          </p:nvPr>
        </p:nvSpPr>
        <p:spPr/>
        <p:txBody>
          <a:bodyPr/>
          <a:lstStyle/>
          <a:p>
            <a:fld id="{E072493F-0578-4168-9B20-C0CFEB192159}" type="slidenum">
              <a:rPr lang="en-US" smtClean="0"/>
              <a:t>‹#›</a:t>
            </a:fld>
            <a:endParaRPr lang="en-US"/>
          </a:p>
        </p:txBody>
      </p:sp>
    </p:spTree>
    <p:extLst>
      <p:ext uri="{BB962C8B-B14F-4D97-AF65-F5344CB8AC3E}">
        <p14:creationId xmlns:p14="http://schemas.microsoft.com/office/powerpoint/2010/main" val="1394998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5C817-F67F-6A28-68FB-7AF5978535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F7406A-C00F-4086-AA04-03863FFCE8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A670FE-46C7-5F9F-0435-BC93A22D7C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430793-4152-D3E2-E43C-9A548582BFE7}"/>
              </a:ext>
            </a:extLst>
          </p:cNvPr>
          <p:cNvSpPr>
            <a:spLocks noGrp="1"/>
          </p:cNvSpPr>
          <p:nvPr>
            <p:ph type="dt" sz="half" idx="10"/>
          </p:nvPr>
        </p:nvSpPr>
        <p:spPr/>
        <p:txBody>
          <a:bodyPr/>
          <a:lstStyle/>
          <a:p>
            <a:fld id="{8763BE27-5842-4AA3-8F41-684815356A4A}" type="datetimeFigureOut">
              <a:rPr lang="en-US" smtClean="0"/>
              <a:t>2/12/2026</a:t>
            </a:fld>
            <a:endParaRPr lang="en-US"/>
          </a:p>
        </p:txBody>
      </p:sp>
      <p:sp>
        <p:nvSpPr>
          <p:cNvPr id="6" name="Footer Placeholder 5">
            <a:extLst>
              <a:ext uri="{FF2B5EF4-FFF2-40B4-BE49-F238E27FC236}">
                <a16:creationId xmlns:a16="http://schemas.microsoft.com/office/drawing/2014/main" id="{203F44B0-AFEE-602C-09C4-9FDC79F5E4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162B5B-F61A-06D5-47D4-4B3A2489D689}"/>
              </a:ext>
            </a:extLst>
          </p:cNvPr>
          <p:cNvSpPr>
            <a:spLocks noGrp="1"/>
          </p:cNvSpPr>
          <p:nvPr>
            <p:ph type="sldNum" sz="quarter" idx="12"/>
          </p:nvPr>
        </p:nvSpPr>
        <p:spPr/>
        <p:txBody>
          <a:bodyPr/>
          <a:lstStyle/>
          <a:p>
            <a:fld id="{E072493F-0578-4168-9B20-C0CFEB192159}" type="slidenum">
              <a:rPr lang="en-US" smtClean="0"/>
              <a:t>‹#›</a:t>
            </a:fld>
            <a:endParaRPr lang="en-US"/>
          </a:p>
        </p:txBody>
      </p:sp>
    </p:spTree>
    <p:extLst>
      <p:ext uri="{BB962C8B-B14F-4D97-AF65-F5344CB8AC3E}">
        <p14:creationId xmlns:p14="http://schemas.microsoft.com/office/powerpoint/2010/main" val="1830372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3D836-BB4C-2D21-4631-830EACC00E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9044C3-D72B-291D-BB73-13ADC0D65E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E5CF68-868C-F1B8-5987-61799ADB9B6F}"/>
              </a:ext>
            </a:extLst>
          </p:cNvPr>
          <p:cNvSpPr>
            <a:spLocks noGrp="1"/>
          </p:cNvSpPr>
          <p:nvPr>
            <p:ph type="dt" sz="half" idx="10"/>
          </p:nvPr>
        </p:nvSpPr>
        <p:spPr/>
        <p:txBody>
          <a:bodyPr/>
          <a:lstStyle/>
          <a:p>
            <a:fld id="{8763BE27-5842-4AA3-8F41-684815356A4A}" type="datetimeFigureOut">
              <a:rPr lang="en-US" smtClean="0"/>
              <a:t>2/12/2026</a:t>
            </a:fld>
            <a:endParaRPr lang="en-US"/>
          </a:p>
        </p:txBody>
      </p:sp>
      <p:sp>
        <p:nvSpPr>
          <p:cNvPr id="5" name="Footer Placeholder 4">
            <a:extLst>
              <a:ext uri="{FF2B5EF4-FFF2-40B4-BE49-F238E27FC236}">
                <a16:creationId xmlns:a16="http://schemas.microsoft.com/office/drawing/2014/main" id="{15E13285-3ECA-2746-7DE0-418EEBE5D3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3E66E6-FFF2-9504-C7D9-5F971785DB85}"/>
              </a:ext>
            </a:extLst>
          </p:cNvPr>
          <p:cNvSpPr>
            <a:spLocks noGrp="1"/>
          </p:cNvSpPr>
          <p:nvPr>
            <p:ph type="sldNum" sz="quarter" idx="12"/>
          </p:nvPr>
        </p:nvSpPr>
        <p:spPr/>
        <p:txBody>
          <a:bodyPr/>
          <a:lstStyle/>
          <a:p>
            <a:fld id="{E072493F-0578-4168-9B20-C0CFEB192159}" type="slidenum">
              <a:rPr lang="en-US" smtClean="0"/>
              <a:t>‹#›</a:t>
            </a:fld>
            <a:endParaRPr lang="en-US"/>
          </a:p>
        </p:txBody>
      </p:sp>
    </p:spTree>
    <p:extLst>
      <p:ext uri="{BB962C8B-B14F-4D97-AF65-F5344CB8AC3E}">
        <p14:creationId xmlns:p14="http://schemas.microsoft.com/office/powerpoint/2010/main" val="1448085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A5EAE1-92FF-0121-052F-BC14FD2593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00C80D-BBC1-D394-ADAC-4099F89917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4B4E6C-BC65-7066-0BD2-4B60032F0DCC}"/>
              </a:ext>
            </a:extLst>
          </p:cNvPr>
          <p:cNvSpPr>
            <a:spLocks noGrp="1"/>
          </p:cNvSpPr>
          <p:nvPr>
            <p:ph type="dt" sz="half" idx="10"/>
          </p:nvPr>
        </p:nvSpPr>
        <p:spPr/>
        <p:txBody>
          <a:bodyPr/>
          <a:lstStyle/>
          <a:p>
            <a:fld id="{8763BE27-5842-4AA3-8F41-684815356A4A}" type="datetimeFigureOut">
              <a:rPr lang="en-US" smtClean="0"/>
              <a:t>2/12/2026</a:t>
            </a:fld>
            <a:endParaRPr lang="en-US"/>
          </a:p>
        </p:txBody>
      </p:sp>
      <p:sp>
        <p:nvSpPr>
          <p:cNvPr id="5" name="Footer Placeholder 4">
            <a:extLst>
              <a:ext uri="{FF2B5EF4-FFF2-40B4-BE49-F238E27FC236}">
                <a16:creationId xmlns:a16="http://schemas.microsoft.com/office/drawing/2014/main" id="{37BEF07A-16CE-F057-6B31-D009CE85D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0B3F42-15B3-84D6-791B-596387B55C17}"/>
              </a:ext>
            </a:extLst>
          </p:cNvPr>
          <p:cNvSpPr>
            <a:spLocks noGrp="1"/>
          </p:cNvSpPr>
          <p:nvPr>
            <p:ph type="sldNum" sz="quarter" idx="12"/>
          </p:nvPr>
        </p:nvSpPr>
        <p:spPr/>
        <p:txBody>
          <a:bodyPr/>
          <a:lstStyle/>
          <a:p>
            <a:fld id="{E072493F-0578-4168-9B20-C0CFEB192159}" type="slidenum">
              <a:rPr lang="en-US" smtClean="0"/>
              <a:t>‹#›</a:t>
            </a:fld>
            <a:endParaRPr lang="en-US"/>
          </a:p>
        </p:txBody>
      </p:sp>
    </p:spTree>
    <p:extLst>
      <p:ext uri="{BB962C8B-B14F-4D97-AF65-F5344CB8AC3E}">
        <p14:creationId xmlns:p14="http://schemas.microsoft.com/office/powerpoint/2010/main" val="3668736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9B2D4B-7BEB-C02F-5EC0-7A4B86206A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CA02D6-755E-4CDA-3B7C-461470C6E0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27198C-61FA-9171-6119-DBDD7CD22C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63BE27-5842-4AA3-8F41-684815356A4A}" type="datetimeFigureOut">
              <a:rPr lang="en-US" smtClean="0"/>
              <a:t>2/12/2026</a:t>
            </a:fld>
            <a:endParaRPr lang="en-US"/>
          </a:p>
        </p:txBody>
      </p:sp>
      <p:sp>
        <p:nvSpPr>
          <p:cNvPr id="5" name="Footer Placeholder 4">
            <a:extLst>
              <a:ext uri="{FF2B5EF4-FFF2-40B4-BE49-F238E27FC236}">
                <a16:creationId xmlns:a16="http://schemas.microsoft.com/office/drawing/2014/main" id="{789A2F1C-C542-07A8-C1B8-47AFEC614B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2263420-F490-7741-CD4E-BE6AF0AC1E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72493F-0578-4168-9B20-C0CFEB192159}" type="slidenum">
              <a:rPr lang="en-US" smtClean="0"/>
              <a:t>‹#›</a:t>
            </a:fld>
            <a:endParaRPr lang="en-US"/>
          </a:p>
        </p:txBody>
      </p:sp>
    </p:spTree>
    <p:extLst>
      <p:ext uri="{BB962C8B-B14F-4D97-AF65-F5344CB8AC3E}">
        <p14:creationId xmlns:p14="http://schemas.microsoft.com/office/powerpoint/2010/main" val="4048970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85BD6-165D-3312-CF50-F268560ECB59}"/>
              </a:ext>
            </a:extLst>
          </p:cNvPr>
          <p:cNvSpPr>
            <a:spLocks noGrp="1"/>
          </p:cNvSpPr>
          <p:nvPr>
            <p:ph type="ctrTitle"/>
          </p:nvPr>
        </p:nvSpPr>
        <p:spPr/>
        <p:txBody>
          <a:bodyPr/>
          <a:lstStyle/>
          <a:p>
            <a:r>
              <a:rPr lang="en-US" b="1" dirty="0"/>
              <a:t>Developing a device estimation needs tool</a:t>
            </a:r>
          </a:p>
        </p:txBody>
      </p:sp>
      <p:sp>
        <p:nvSpPr>
          <p:cNvPr id="3" name="Subtitle 2">
            <a:extLst>
              <a:ext uri="{FF2B5EF4-FFF2-40B4-BE49-F238E27FC236}">
                <a16:creationId xmlns:a16="http://schemas.microsoft.com/office/drawing/2014/main" id="{FDE5E676-B055-D0FF-E63D-1E01477FDFAF}"/>
              </a:ext>
            </a:extLst>
          </p:cNvPr>
          <p:cNvSpPr>
            <a:spLocks noGrp="1"/>
          </p:cNvSpPr>
          <p:nvPr>
            <p:ph type="subTitle" idx="1"/>
          </p:nvPr>
        </p:nvSpPr>
        <p:spPr/>
        <p:txBody>
          <a:bodyPr/>
          <a:lstStyle/>
          <a:p>
            <a:r>
              <a:rPr lang="en-US" dirty="0"/>
              <a:t>February 2026</a:t>
            </a:r>
          </a:p>
        </p:txBody>
      </p:sp>
    </p:spTree>
    <p:extLst>
      <p:ext uri="{BB962C8B-B14F-4D97-AF65-F5344CB8AC3E}">
        <p14:creationId xmlns:p14="http://schemas.microsoft.com/office/powerpoint/2010/main" val="412950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ABF81-61DF-5C60-F383-A5502C5D6360}"/>
              </a:ext>
            </a:extLst>
          </p:cNvPr>
          <p:cNvSpPr>
            <a:spLocks noGrp="1"/>
          </p:cNvSpPr>
          <p:nvPr>
            <p:ph type="title"/>
          </p:nvPr>
        </p:nvSpPr>
        <p:spPr>
          <a:xfrm>
            <a:off x="838200" y="365125"/>
            <a:ext cx="10515600" cy="630195"/>
          </a:xfrm>
        </p:spPr>
        <p:txBody>
          <a:bodyPr>
            <a:normAutofit fontScale="90000"/>
          </a:bodyPr>
          <a:lstStyle/>
          <a:p>
            <a:r>
              <a:rPr lang="en-US" b="1" dirty="0"/>
              <a:t>Starting with CPAP</a:t>
            </a:r>
          </a:p>
        </p:txBody>
      </p:sp>
      <p:sp>
        <p:nvSpPr>
          <p:cNvPr id="3" name="Content Placeholder 2">
            <a:extLst>
              <a:ext uri="{FF2B5EF4-FFF2-40B4-BE49-F238E27FC236}">
                <a16:creationId xmlns:a16="http://schemas.microsoft.com/office/drawing/2014/main" id="{DC60787C-83D4-0189-A697-9BE9CD1FA20E}"/>
              </a:ext>
            </a:extLst>
          </p:cNvPr>
          <p:cNvSpPr>
            <a:spLocks noGrp="1"/>
          </p:cNvSpPr>
          <p:nvPr>
            <p:ph idx="1"/>
          </p:nvPr>
        </p:nvSpPr>
        <p:spPr>
          <a:xfrm>
            <a:off x="838200" y="1084333"/>
            <a:ext cx="11024724" cy="5551136"/>
          </a:xfrm>
        </p:spPr>
        <p:txBody>
          <a:bodyPr>
            <a:normAutofit/>
          </a:bodyPr>
          <a:lstStyle/>
          <a:p>
            <a:pPr marL="0" indent="0">
              <a:buNone/>
            </a:pPr>
            <a:r>
              <a:rPr lang="en-US" b="1" dirty="0"/>
              <a:t>Objective</a:t>
            </a:r>
            <a:r>
              <a:rPr lang="en-US" dirty="0"/>
              <a:t>:</a:t>
            </a:r>
          </a:p>
          <a:p>
            <a:r>
              <a:rPr lang="en-US" sz="2400" dirty="0"/>
              <a:t>Estimate CPAP machines needed per neonatal facility in low-resource settings.</a:t>
            </a:r>
          </a:p>
          <a:p>
            <a:r>
              <a:rPr lang="en-US" sz="2400" dirty="0"/>
              <a:t>Support procurement and planning based on clinical need.</a:t>
            </a:r>
          </a:p>
          <a:p>
            <a:r>
              <a:rPr lang="en-US" sz="2400" dirty="0"/>
              <a:t>Key concept: Device demand driven by patient severity (birthweight), and some slight adjustment for levels of care to avoid over or under estimation in facilities with similar birth weight distribution to reference facility.</a:t>
            </a:r>
          </a:p>
          <a:p>
            <a:r>
              <a:rPr lang="en-US" sz="2400" dirty="0"/>
              <a:t>Adjustments: </a:t>
            </a:r>
          </a:p>
          <a:p>
            <a:pPr lvl="1"/>
            <a:r>
              <a:rPr lang="en-US" dirty="0"/>
              <a:t>Facility level (II vs III) – these details affects CPAP duration/referral patterns.</a:t>
            </a:r>
          </a:p>
          <a:p>
            <a:pPr lvl="1"/>
            <a:r>
              <a:rPr lang="en-US" dirty="0"/>
              <a:t>Patient severity captured via birthweight mix.</a:t>
            </a:r>
          </a:p>
          <a:p>
            <a:r>
              <a:rPr lang="en-US" sz="2400" dirty="0"/>
              <a:t>Outcome: </a:t>
            </a:r>
          </a:p>
          <a:p>
            <a:pPr lvl="1"/>
            <a:r>
              <a:rPr lang="en-US" dirty="0"/>
              <a:t>Estimated devices per facility (with operational buffer (10–15%) for surge, maintenance, seasonality).</a:t>
            </a:r>
          </a:p>
          <a:p>
            <a:pPr lvl="1"/>
            <a:r>
              <a:rPr lang="en-US" dirty="0"/>
              <a:t>Gap/surplus for procurement planning.</a:t>
            </a:r>
          </a:p>
        </p:txBody>
      </p:sp>
    </p:spTree>
    <p:extLst>
      <p:ext uri="{BB962C8B-B14F-4D97-AF65-F5344CB8AC3E}">
        <p14:creationId xmlns:p14="http://schemas.microsoft.com/office/powerpoint/2010/main" val="780859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2A185-FF56-0432-60B1-8BA7B4CE26F7}"/>
              </a:ext>
            </a:extLst>
          </p:cNvPr>
          <p:cNvSpPr>
            <a:spLocks noGrp="1"/>
          </p:cNvSpPr>
          <p:nvPr>
            <p:ph type="title"/>
          </p:nvPr>
        </p:nvSpPr>
        <p:spPr>
          <a:xfrm>
            <a:off x="571163" y="130456"/>
            <a:ext cx="10515600" cy="662563"/>
          </a:xfrm>
        </p:spPr>
        <p:txBody>
          <a:bodyPr>
            <a:normAutofit/>
          </a:bodyPr>
          <a:lstStyle/>
          <a:p>
            <a:r>
              <a:rPr lang="en-US" sz="3600" b="1" dirty="0"/>
              <a:t>Scaling device estimation using historical data</a:t>
            </a:r>
          </a:p>
        </p:txBody>
      </p:sp>
      <p:sp>
        <p:nvSpPr>
          <p:cNvPr id="4" name="Rectangle 1">
            <a:extLst>
              <a:ext uri="{FF2B5EF4-FFF2-40B4-BE49-F238E27FC236}">
                <a16:creationId xmlns:a16="http://schemas.microsoft.com/office/drawing/2014/main" id="{8713A84A-E737-56AA-72DC-3706A996FEE4}"/>
              </a:ext>
            </a:extLst>
          </p:cNvPr>
          <p:cNvSpPr>
            <a:spLocks noGrp="1" noChangeArrowheads="1"/>
          </p:cNvSpPr>
          <p:nvPr>
            <p:ph idx="1"/>
          </p:nvPr>
        </p:nvSpPr>
        <p:spPr bwMode="auto">
          <a:xfrm>
            <a:off x="838200" y="854745"/>
            <a:ext cx="10984264" cy="5770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Use of Historical Data:</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Aggregate </a:t>
            </a:r>
            <a:r>
              <a:rPr kumimoji="0" lang="en-US" altLang="en-US" sz="1800" b="1" i="0" u="none" strike="noStrike" cap="none" normalizeH="0" baseline="0" dirty="0">
                <a:ln>
                  <a:noFill/>
                </a:ln>
                <a:solidFill>
                  <a:schemeClr val="tx1"/>
                </a:solidFill>
                <a:effectLst/>
                <a:latin typeface="Arial" panose="020B0604020202020204" pitchFamily="34" charset="0"/>
              </a:rPr>
              <a:t>birthweight distribution, CPAP rates, and duration</a:t>
            </a:r>
            <a:r>
              <a:rPr kumimoji="0" lang="en-US" altLang="en-US" sz="1800" b="0" i="0" u="none" strike="noStrike" cap="none" normalizeH="0" baseline="0" dirty="0">
                <a:ln>
                  <a:noFill/>
                </a:ln>
                <a:solidFill>
                  <a:schemeClr val="tx1"/>
                </a:solidFill>
                <a:effectLst/>
                <a:latin typeface="Arial" panose="020B0604020202020204" pitchFamily="34" charset="0"/>
              </a:rPr>
              <a:t> from existing hospitals</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Apply to </a:t>
            </a:r>
            <a:r>
              <a:rPr kumimoji="0" lang="en-US" altLang="en-US" sz="1800" b="1" i="0" u="none" strike="noStrike" cap="none" normalizeH="0" baseline="0" dirty="0">
                <a:ln>
                  <a:noFill/>
                </a:ln>
                <a:solidFill>
                  <a:schemeClr val="tx1"/>
                </a:solidFill>
                <a:effectLst/>
                <a:latin typeface="Arial" panose="020B0604020202020204" pitchFamily="34" charset="0"/>
              </a:rPr>
              <a:t>new or similar facilities</a:t>
            </a:r>
            <a:r>
              <a:rPr kumimoji="0" lang="en-US" altLang="en-US" sz="1800" b="0" i="0" u="none" strike="noStrike" cap="none" normalizeH="0" baseline="0" dirty="0">
                <a:ln>
                  <a:noFill/>
                </a:ln>
                <a:solidFill>
                  <a:schemeClr val="tx1"/>
                </a:solidFill>
                <a:effectLst/>
                <a:latin typeface="Arial" panose="020B0604020202020204" pitchFamily="34" charset="0"/>
              </a:rPr>
              <a:t> to estimate device needs before operational data exist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Advantages: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Provides </a:t>
            </a:r>
            <a:r>
              <a:rPr kumimoji="0" lang="en-US" altLang="en-US" sz="1800" b="1" i="0" u="none" strike="noStrike" cap="none" normalizeH="0" baseline="0" dirty="0">
                <a:ln>
                  <a:noFill/>
                </a:ln>
                <a:solidFill>
                  <a:schemeClr val="tx1"/>
                </a:solidFill>
                <a:effectLst/>
                <a:latin typeface="Arial" panose="020B0604020202020204" pitchFamily="34" charset="0"/>
              </a:rPr>
              <a:t>evidence-based starting point</a:t>
            </a:r>
            <a:r>
              <a:rPr kumimoji="0" lang="en-US" altLang="en-US" sz="1800" b="0" i="0" u="none" strike="noStrike" cap="none" normalizeH="0" baseline="0" dirty="0">
                <a:ln>
                  <a:noFill/>
                </a:ln>
                <a:solidFill>
                  <a:schemeClr val="tx1"/>
                </a:solidFill>
                <a:effectLst/>
                <a:latin typeface="Arial" panose="020B0604020202020204" pitchFamily="34" charset="0"/>
              </a:rPr>
              <a:t> for procurement</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Can be updated once local patient data are available</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Considerations: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Assumes </a:t>
            </a:r>
            <a:r>
              <a:rPr kumimoji="0" lang="en-US" altLang="en-US" sz="1800" b="1" i="0" u="none" strike="noStrike" cap="none" normalizeH="0" baseline="0" dirty="0">
                <a:ln>
                  <a:noFill/>
                </a:ln>
                <a:solidFill>
                  <a:schemeClr val="tx1"/>
                </a:solidFill>
                <a:effectLst/>
                <a:latin typeface="Arial" panose="020B0604020202020204" pitchFamily="34" charset="0"/>
              </a:rPr>
              <a:t>similar case-mix and referral patterns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Level III hospitals may require slightly longer CPAP durations</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High-acuity or extremely low birthweight cases may need adjustment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Practical Application: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Initial procurement and staffing decisions</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Planning across networks of facilities with similar contexts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19468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9C619-55EC-F956-3CC5-712033D845DF}"/>
              </a:ext>
            </a:extLst>
          </p:cNvPr>
          <p:cNvSpPr>
            <a:spLocks noGrp="1"/>
          </p:cNvSpPr>
          <p:nvPr>
            <p:ph type="title"/>
          </p:nvPr>
        </p:nvSpPr>
        <p:spPr>
          <a:xfrm>
            <a:off x="838200" y="73812"/>
            <a:ext cx="10515600" cy="832496"/>
          </a:xfrm>
        </p:spPr>
        <p:txBody>
          <a:bodyPr>
            <a:normAutofit/>
          </a:bodyPr>
          <a:lstStyle/>
          <a:p>
            <a:r>
              <a:rPr lang="en-US" sz="4000" b="1" dirty="0"/>
              <a:t>CPAP devices estimation - methodology</a:t>
            </a:r>
          </a:p>
        </p:txBody>
      </p:sp>
      <p:sp>
        <p:nvSpPr>
          <p:cNvPr id="3" name="Content Placeholder 2">
            <a:extLst>
              <a:ext uri="{FF2B5EF4-FFF2-40B4-BE49-F238E27FC236}">
                <a16:creationId xmlns:a16="http://schemas.microsoft.com/office/drawing/2014/main" id="{4DB28D08-4746-05DA-C165-168FBCE195EF}"/>
              </a:ext>
            </a:extLst>
          </p:cNvPr>
          <p:cNvSpPr>
            <a:spLocks noGrp="1"/>
          </p:cNvSpPr>
          <p:nvPr>
            <p:ph idx="1"/>
          </p:nvPr>
        </p:nvSpPr>
        <p:spPr>
          <a:xfrm>
            <a:off x="838200" y="979137"/>
            <a:ext cx="10515600" cy="5575412"/>
          </a:xfrm>
        </p:spPr>
        <p:txBody>
          <a:bodyPr>
            <a:normAutofit lnSpcReduction="10000"/>
          </a:bodyPr>
          <a:lstStyle/>
          <a:p>
            <a:pPr>
              <a:buNone/>
            </a:pPr>
            <a:r>
              <a:rPr lang="en-US" sz="2400" b="1" dirty="0"/>
              <a:t>Estimate clinical demand</a:t>
            </a:r>
          </a:p>
          <a:p>
            <a:pPr>
              <a:buFont typeface="Arial" panose="020B0604020202020204" pitchFamily="34" charset="0"/>
              <a:buChar char="•"/>
            </a:pPr>
            <a:r>
              <a:rPr lang="en-US" sz="2400" dirty="0"/>
              <a:t>Calculate facility birthweight distribution</a:t>
            </a:r>
          </a:p>
          <a:p>
            <a:pPr>
              <a:buFont typeface="Arial" panose="020B0604020202020204" pitchFamily="34" charset="0"/>
              <a:buChar char="•"/>
            </a:pPr>
            <a:r>
              <a:rPr lang="en-US" sz="2400" dirty="0"/>
              <a:t>Apply expected % needing CPAP by birthweight group</a:t>
            </a:r>
          </a:p>
          <a:p>
            <a:pPr>
              <a:buFont typeface="Arial" panose="020B0604020202020204" pitchFamily="34" charset="0"/>
              <a:buChar char="•"/>
            </a:pPr>
            <a:r>
              <a:rPr lang="en-US" sz="2400" dirty="0"/>
              <a:t>Compute overall </a:t>
            </a:r>
            <a:r>
              <a:rPr lang="en-US" sz="2400" u="sng" dirty="0"/>
              <a:t>expected CPAP rate </a:t>
            </a:r>
            <a:r>
              <a:rPr lang="en-US" sz="2400" dirty="0"/>
              <a:t>(weighted by case-mix)</a:t>
            </a:r>
          </a:p>
          <a:p>
            <a:pPr>
              <a:buNone/>
            </a:pPr>
            <a:r>
              <a:rPr lang="en-US" sz="2400" b="1" dirty="0"/>
              <a:t>Expected CPAP % </a:t>
            </a:r>
            <a:r>
              <a:rPr lang="en-US" sz="2400" dirty="0"/>
              <a:t>= Σ (Proportion in BW group × Expected CPAP rate for that group)</a:t>
            </a:r>
          </a:p>
          <a:p>
            <a:pPr>
              <a:buNone/>
            </a:pPr>
            <a:endParaRPr lang="en-US" sz="2400" b="1" dirty="0"/>
          </a:p>
          <a:p>
            <a:pPr>
              <a:buNone/>
            </a:pPr>
            <a:r>
              <a:rPr lang="en-US" sz="2400" b="1" dirty="0"/>
              <a:t>Convert annual demand to simultaneous need (concurrency)</a:t>
            </a:r>
          </a:p>
          <a:p>
            <a:pPr>
              <a:buFont typeface="Arial" panose="020B0604020202020204" pitchFamily="34" charset="0"/>
              <a:buChar char="•"/>
            </a:pPr>
            <a:r>
              <a:rPr lang="en-US" sz="2400" dirty="0"/>
              <a:t>Use average annual neonatal admissions (multi-year preferred)</a:t>
            </a:r>
          </a:p>
          <a:p>
            <a:pPr>
              <a:buFont typeface="Arial" panose="020B0604020202020204" pitchFamily="34" charset="0"/>
              <a:buChar char="•"/>
            </a:pPr>
            <a:r>
              <a:rPr lang="en-US" sz="2400" dirty="0"/>
              <a:t>Estimate average CPAP duration (facility-specific or level-adjusted)</a:t>
            </a:r>
          </a:p>
          <a:p>
            <a:pPr>
              <a:buNone/>
            </a:pPr>
            <a:r>
              <a:rPr lang="en-US" sz="2400" dirty="0"/>
              <a:t>CPAP devices needed =</a:t>
            </a:r>
            <a:br>
              <a:rPr lang="en-US" sz="2400" dirty="0"/>
            </a:br>
            <a:r>
              <a:rPr lang="en-US" sz="2400" dirty="0"/>
              <a:t>(Admissions × Expected CPAP % × Avg CPAP days) ÷ 365</a:t>
            </a:r>
          </a:p>
          <a:p>
            <a:pPr>
              <a:buFont typeface="Wingdings" panose="05000000000000000000" pitchFamily="2" charset="2"/>
              <a:buChar char="ü"/>
            </a:pPr>
            <a:r>
              <a:rPr lang="en-US" sz="2400" dirty="0"/>
              <a:t>This estimates </a:t>
            </a:r>
            <a:r>
              <a:rPr lang="en-US" sz="2400" b="1" dirty="0"/>
              <a:t>average number of machines needed simultaneously</a:t>
            </a:r>
            <a:endParaRPr lang="en-US" sz="2400" dirty="0"/>
          </a:p>
        </p:txBody>
      </p:sp>
    </p:spTree>
    <p:extLst>
      <p:ext uri="{BB962C8B-B14F-4D97-AF65-F5344CB8AC3E}">
        <p14:creationId xmlns:p14="http://schemas.microsoft.com/office/powerpoint/2010/main" val="2088500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1791C-44A3-0AC3-1AC8-D8E50B1CD183}"/>
              </a:ext>
            </a:extLst>
          </p:cNvPr>
          <p:cNvSpPr>
            <a:spLocks noGrp="1"/>
          </p:cNvSpPr>
          <p:nvPr>
            <p:ph type="title"/>
          </p:nvPr>
        </p:nvSpPr>
        <p:spPr>
          <a:xfrm>
            <a:off x="838200" y="365126"/>
            <a:ext cx="10515600" cy="719208"/>
          </a:xfrm>
        </p:spPr>
        <p:txBody>
          <a:bodyPr>
            <a:normAutofit/>
          </a:bodyPr>
          <a:lstStyle/>
          <a:p>
            <a:r>
              <a:rPr lang="en-US" sz="3600" dirty="0"/>
              <a:t>CPAP – example facility (Level III Regional Hospital)</a:t>
            </a:r>
          </a:p>
        </p:txBody>
      </p:sp>
      <p:sp>
        <p:nvSpPr>
          <p:cNvPr id="3" name="Content Placeholder 2">
            <a:extLst>
              <a:ext uri="{FF2B5EF4-FFF2-40B4-BE49-F238E27FC236}">
                <a16:creationId xmlns:a16="http://schemas.microsoft.com/office/drawing/2014/main" id="{AA6B8A3A-438D-676A-A3E2-B01C7CA8A797}"/>
              </a:ext>
            </a:extLst>
          </p:cNvPr>
          <p:cNvSpPr>
            <a:spLocks noGrp="1"/>
          </p:cNvSpPr>
          <p:nvPr>
            <p:ph idx="1"/>
          </p:nvPr>
        </p:nvSpPr>
        <p:spPr>
          <a:xfrm>
            <a:off x="838200" y="1205713"/>
            <a:ext cx="10515600" cy="4971250"/>
          </a:xfrm>
        </p:spPr>
        <p:txBody>
          <a:bodyPr/>
          <a:lstStyle/>
          <a:p>
            <a:r>
              <a:rPr lang="en-US" dirty="0"/>
              <a:t>Annual Admissions: 1,200 neonates per year</a:t>
            </a:r>
          </a:p>
          <a:p>
            <a:endParaRPr lang="en-US" dirty="0"/>
          </a:p>
        </p:txBody>
      </p:sp>
      <p:graphicFrame>
        <p:nvGraphicFramePr>
          <p:cNvPr id="4" name="Table 3">
            <a:extLst>
              <a:ext uri="{FF2B5EF4-FFF2-40B4-BE49-F238E27FC236}">
                <a16:creationId xmlns:a16="http://schemas.microsoft.com/office/drawing/2014/main" id="{3B7DD916-17EC-A198-86CF-869EFD26815D}"/>
              </a:ext>
            </a:extLst>
          </p:cNvPr>
          <p:cNvGraphicFramePr>
            <a:graphicFrameLocks noGrp="1"/>
          </p:cNvGraphicFramePr>
          <p:nvPr>
            <p:extLst>
              <p:ext uri="{D42A27DB-BD31-4B8C-83A1-F6EECF244321}">
                <p14:modId xmlns:p14="http://schemas.microsoft.com/office/powerpoint/2010/main" val="2627501275"/>
              </p:ext>
            </p:extLst>
          </p:nvPr>
        </p:nvGraphicFramePr>
        <p:xfrm>
          <a:off x="1097145" y="1795405"/>
          <a:ext cx="6687393" cy="2194560"/>
        </p:xfrm>
        <a:graphic>
          <a:graphicData uri="http://schemas.openxmlformats.org/drawingml/2006/table">
            <a:tbl>
              <a:tblPr>
                <a:tableStyleId>{3C2FFA5D-87B4-456A-9821-1D502468CF0F}</a:tableStyleId>
              </a:tblPr>
              <a:tblGrid>
                <a:gridCol w="1743160">
                  <a:extLst>
                    <a:ext uri="{9D8B030D-6E8A-4147-A177-3AD203B41FA5}">
                      <a16:colId xmlns:a16="http://schemas.microsoft.com/office/drawing/2014/main" val="2105015009"/>
                    </a:ext>
                  </a:extLst>
                </a:gridCol>
                <a:gridCol w="1958272">
                  <a:extLst>
                    <a:ext uri="{9D8B030D-6E8A-4147-A177-3AD203B41FA5}">
                      <a16:colId xmlns:a16="http://schemas.microsoft.com/office/drawing/2014/main" val="4070658773"/>
                    </a:ext>
                  </a:extLst>
                </a:gridCol>
                <a:gridCol w="2985961">
                  <a:extLst>
                    <a:ext uri="{9D8B030D-6E8A-4147-A177-3AD203B41FA5}">
                      <a16:colId xmlns:a16="http://schemas.microsoft.com/office/drawing/2014/main" val="3011841619"/>
                    </a:ext>
                  </a:extLst>
                </a:gridCol>
              </a:tblGrid>
              <a:tr h="0">
                <a:tc>
                  <a:txBody>
                    <a:bodyPr/>
                    <a:lstStyle/>
                    <a:p>
                      <a:pPr>
                        <a:buNone/>
                      </a:pPr>
                      <a:r>
                        <a:rPr lang="en-US" b="1"/>
                        <a:t>BW Group</a:t>
                      </a:r>
                    </a:p>
                  </a:txBody>
                  <a:tcPr anchor="ctr"/>
                </a:tc>
                <a:tc>
                  <a:txBody>
                    <a:bodyPr/>
                    <a:lstStyle/>
                    <a:p>
                      <a:pPr>
                        <a:buNone/>
                      </a:pPr>
                      <a:r>
                        <a:rPr lang="en-US" b="1"/>
                        <a:t>% of Admissions</a:t>
                      </a:r>
                    </a:p>
                  </a:txBody>
                  <a:tcPr anchor="ctr"/>
                </a:tc>
                <a:tc>
                  <a:txBody>
                    <a:bodyPr/>
                    <a:lstStyle/>
                    <a:p>
                      <a:pPr>
                        <a:buNone/>
                      </a:pPr>
                      <a:r>
                        <a:rPr lang="en-US" b="1" dirty="0"/>
                        <a:t>Expected % Needing CPAP</a:t>
                      </a:r>
                    </a:p>
                  </a:txBody>
                  <a:tcPr anchor="ctr"/>
                </a:tc>
                <a:extLst>
                  <a:ext uri="{0D108BD9-81ED-4DB2-BD59-A6C34878D82A}">
                    <a16:rowId xmlns:a16="http://schemas.microsoft.com/office/drawing/2014/main" val="2675407598"/>
                  </a:ext>
                </a:extLst>
              </a:tr>
              <a:tr h="0">
                <a:tc>
                  <a:txBody>
                    <a:bodyPr/>
                    <a:lstStyle/>
                    <a:p>
                      <a:pPr>
                        <a:buNone/>
                      </a:pPr>
                      <a:r>
                        <a:rPr lang="en-US"/>
                        <a:t>≥2500g</a:t>
                      </a:r>
                    </a:p>
                  </a:txBody>
                  <a:tcPr anchor="ctr"/>
                </a:tc>
                <a:tc>
                  <a:txBody>
                    <a:bodyPr/>
                    <a:lstStyle/>
                    <a:p>
                      <a:pPr>
                        <a:buNone/>
                      </a:pPr>
                      <a:r>
                        <a:rPr lang="en-US"/>
                        <a:t>50%</a:t>
                      </a:r>
                    </a:p>
                  </a:txBody>
                  <a:tcPr anchor="ctr"/>
                </a:tc>
                <a:tc>
                  <a:txBody>
                    <a:bodyPr/>
                    <a:lstStyle/>
                    <a:p>
                      <a:pPr>
                        <a:buNone/>
                      </a:pPr>
                      <a:r>
                        <a:rPr lang="en-US"/>
                        <a:t>5%</a:t>
                      </a:r>
                    </a:p>
                  </a:txBody>
                  <a:tcPr anchor="ctr"/>
                </a:tc>
                <a:extLst>
                  <a:ext uri="{0D108BD9-81ED-4DB2-BD59-A6C34878D82A}">
                    <a16:rowId xmlns:a16="http://schemas.microsoft.com/office/drawing/2014/main" val="2218015776"/>
                  </a:ext>
                </a:extLst>
              </a:tr>
              <a:tr h="0">
                <a:tc>
                  <a:txBody>
                    <a:bodyPr/>
                    <a:lstStyle/>
                    <a:p>
                      <a:pPr>
                        <a:buNone/>
                      </a:pPr>
                      <a:r>
                        <a:rPr lang="en-US"/>
                        <a:t>2000–2499g</a:t>
                      </a:r>
                    </a:p>
                  </a:txBody>
                  <a:tcPr anchor="ctr"/>
                </a:tc>
                <a:tc>
                  <a:txBody>
                    <a:bodyPr/>
                    <a:lstStyle/>
                    <a:p>
                      <a:pPr>
                        <a:buNone/>
                      </a:pPr>
                      <a:r>
                        <a:rPr lang="en-US"/>
                        <a:t>25%</a:t>
                      </a:r>
                    </a:p>
                  </a:txBody>
                  <a:tcPr anchor="ctr"/>
                </a:tc>
                <a:tc>
                  <a:txBody>
                    <a:bodyPr/>
                    <a:lstStyle/>
                    <a:p>
                      <a:pPr>
                        <a:buNone/>
                      </a:pPr>
                      <a:r>
                        <a:rPr lang="en-US" dirty="0"/>
                        <a:t>20%</a:t>
                      </a:r>
                    </a:p>
                  </a:txBody>
                  <a:tcPr anchor="ctr"/>
                </a:tc>
                <a:extLst>
                  <a:ext uri="{0D108BD9-81ED-4DB2-BD59-A6C34878D82A}">
                    <a16:rowId xmlns:a16="http://schemas.microsoft.com/office/drawing/2014/main" val="2466988374"/>
                  </a:ext>
                </a:extLst>
              </a:tr>
              <a:tr h="0">
                <a:tc>
                  <a:txBody>
                    <a:bodyPr/>
                    <a:lstStyle/>
                    <a:p>
                      <a:pPr>
                        <a:buNone/>
                      </a:pPr>
                      <a:r>
                        <a:rPr lang="en-US"/>
                        <a:t>1500–1999g</a:t>
                      </a:r>
                    </a:p>
                  </a:txBody>
                  <a:tcPr anchor="ctr"/>
                </a:tc>
                <a:tc>
                  <a:txBody>
                    <a:bodyPr/>
                    <a:lstStyle/>
                    <a:p>
                      <a:pPr>
                        <a:buNone/>
                      </a:pPr>
                      <a:r>
                        <a:rPr lang="en-US"/>
                        <a:t>15%</a:t>
                      </a:r>
                    </a:p>
                  </a:txBody>
                  <a:tcPr anchor="ctr"/>
                </a:tc>
                <a:tc>
                  <a:txBody>
                    <a:bodyPr/>
                    <a:lstStyle/>
                    <a:p>
                      <a:pPr>
                        <a:buNone/>
                      </a:pPr>
                      <a:r>
                        <a:rPr lang="en-US"/>
                        <a:t>40%</a:t>
                      </a:r>
                    </a:p>
                  </a:txBody>
                  <a:tcPr anchor="ctr"/>
                </a:tc>
                <a:extLst>
                  <a:ext uri="{0D108BD9-81ED-4DB2-BD59-A6C34878D82A}">
                    <a16:rowId xmlns:a16="http://schemas.microsoft.com/office/drawing/2014/main" val="1034634361"/>
                  </a:ext>
                </a:extLst>
              </a:tr>
              <a:tr h="0">
                <a:tc>
                  <a:txBody>
                    <a:bodyPr/>
                    <a:lstStyle/>
                    <a:p>
                      <a:pPr>
                        <a:buNone/>
                      </a:pPr>
                      <a:r>
                        <a:rPr lang="en-US"/>
                        <a:t>1000–1499g</a:t>
                      </a:r>
                    </a:p>
                  </a:txBody>
                  <a:tcPr anchor="ctr"/>
                </a:tc>
                <a:tc>
                  <a:txBody>
                    <a:bodyPr/>
                    <a:lstStyle/>
                    <a:p>
                      <a:pPr>
                        <a:buNone/>
                      </a:pPr>
                      <a:r>
                        <a:rPr lang="en-US"/>
                        <a:t>8%</a:t>
                      </a:r>
                    </a:p>
                  </a:txBody>
                  <a:tcPr anchor="ctr"/>
                </a:tc>
                <a:tc>
                  <a:txBody>
                    <a:bodyPr/>
                    <a:lstStyle/>
                    <a:p>
                      <a:pPr>
                        <a:buNone/>
                      </a:pPr>
                      <a:r>
                        <a:rPr lang="en-US"/>
                        <a:t>65%</a:t>
                      </a:r>
                    </a:p>
                  </a:txBody>
                  <a:tcPr anchor="ctr"/>
                </a:tc>
                <a:extLst>
                  <a:ext uri="{0D108BD9-81ED-4DB2-BD59-A6C34878D82A}">
                    <a16:rowId xmlns:a16="http://schemas.microsoft.com/office/drawing/2014/main" val="1349434180"/>
                  </a:ext>
                </a:extLst>
              </a:tr>
              <a:tr h="0">
                <a:tc>
                  <a:txBody>
                    <a:bodyPr/>
                    <a:lstStyle/>
                    <a:p>
                      <a:pPr>
                        <a:buNone/>
                      </a:pPr>
                      <a:r>
                        <a:rPr lang="en-US"/>
                        <a:t>&lt;1000g</a:t>
                      </a:r>
                    </a:p>
                  </a:txBody>
                  <a:tcPr anchor="ctr"/>
                </a:tc>
                <a:tc>
                  <a:txBody>
                    <a:bodyPr/>
                    <a:lstStyle/>
                    <a:p>
                      <a:pPr>
                        <a:buNone/>
                      </a:pPr>
                      <a:r>
                        <a:rPr lang="en-US"/>
                        <a:t>2%</a:t>
                      </a:r>
                    </a:p>
                  </a:txBody>
                  <a:tcPr anchor="ctr"/>
                </a:tc>
                <a:tc>
                  <a:txBody>
                    <a:bodyPr/>
                    <a:lstStyle/>
                    <a:p>
                      <a:pPr>
                        <a:buNone/>
                      </a:pPr>
                      <a:r>
                        <a:rPr lang="en-US" dirty="0"/>
                        <a:t>85%</a:t>
                      </a:r>
                    </a:p>
                  </a:txBody>
                  <a:tcPr anchor="ctr"/>
                </a:tc>
                <a:extLst>
                  <a:ext uri="{0D108BD9-81ED-4DB2-BD59-A6C34878D82A}">
                    <a16:rowId xmlns:a16="http://schemas.microsoft.com/office/drawing/2014/main" val="2927553153"/>
                  </a:ext>
                </a:extLst>
              </a:tr>
            </a:tbl>
          </a:graphicData>
        </a:graphic>
      </p:graphicFrame>
    </p:spTree>
    <p:extLst>
      <p:ext uri="{BB962C8B-B14F-4D97-AF65-F5344CB8AC3E}">
        <p14:creationId xmlns:p14="http://schemas.microsoft.com/office/powerpoint/2010/main" val="925491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19A19-9D22-B3DC-A8AE-4B3BCDA42FCB}"/>
              </a:ext>
            </a:extLst>
          </p:cNvPr>
          <p:cNvSpPr>
            <a:spLocks noGrp="1"/>
          </p:cNvSpPr>
          <p:nvPr>
            <p:ph type="title"/>
          </p:nvPr>
        </p:nvSpPr>
        <p:spPr>
          <a:xfrm>
            <a:off x="838200" y="365126"/>
            <a:ext cx="10515600" cy="767760"/>
          </a:xfrm>
        </p:spPr>
        <p:txBody>
          <a:bodyPr>
            <a:normAutofit/>
          </a:bodyPr>
          <a:lstStyle/>
          <a:p>
            <a:r>
              <a:rPr lang="en-US" sz="3600" dirty="0"/>
              <a:t>CPAP – example facility (Level III Regional Hospital)</a:t>
            </a:r>
          </a:p>
        </p:txBody>
      </p:sp>
      <p:sp>
        <p:nvSpPr>
          <p:cNvPr id="3" name="Content Placeholder 2">
            <a:extLst>
              <a:ext uri="{FF2B5EF4-FFF2-40B4-BE49-F238E27FC236}">
                <a16:creationId xmlns:a16="http://schemas.microsoft.com/office/drawing/2014/main" id="{7B7241C6-A369-8FD2-313D-30C3C8A900C1}"/>
              </a:ext>
            </a:extLst>
          </p:cNvPr>
          <p:cNvSpPr>
            <a:spLocks noGrp="1"/>
          </p:cNvSpPr>
          <p:nvPr>
            <p:ph idx="1"/>
          </p:nvPr>
        </p:nvSpPr>
        <p:spPr>
          <a:xfrm>
            <a:off x="838200" y="1323918"/>
            <a:ext cx="10515600" cy="4963593"/>
          </a:xfrm>
        </p:spPr>
        <p:txBody>
          <a:bodyPr>
            <a:normAutofit/>
          </a:bodyPr>
          <a:lstStyle/>
          <a:p>
            <a:pPr>
              <a:buNone/>
            </a:pPr>
            <a:r>
              <a:rPr lang="en-US" sz="2400" b="1" dirty="0"/>
              <a:t>Compute expected CPAP %</a:t>
            </a:r>
          </a:p>
          <a:p>
            <a:pPr>
              <a:buNone/>
            </a:pPr>
            <a:r>
              <a:rPr lang="en-US" sz="2400" dirty="0"/>
              <a:t>Weighted sum:</a:t>
            </a:r>
          </a:p>
          <a:p>
            <a:pPr marL="457200" lvl="1" indent="0">
              <a:buNone/>
            </a:pPr>
            <a:r>
              <a:rPr lang="en-US" sz="2000" dirty="0"/>
              <a:t>0.50 × 0.05 = 0.025</a:t>
            </a:r>
          </a:p>
          <a:p>
            <a:pPr marL="457200" lvl="1" indent="0">
              <a:buNone/>
            </a:pPr>
            <a:r>
              <a:rPr lang="en-US" sz="2000" dirty="0"/>
              <a:t>0.25 × 0.20 = 0.050</a:t>
            </a:r>
          </a:p>
          <a:p>
            <a:pPr marL="457200" lvl="1" indent="0">
              <a:buNone/>
            </a:pPr>
            <a:r>
              <a:rPr lang="en-US" sz="2000" dirty="0"/>
              <a:t>0.15 × 0.40 = 0.060</a:t>
            </a:r>
          </a:p>
          <a:p>
            <a:pPr marL="457200" lvl="1" indent="0">
              <a:buNone/>
            </a:pPr>
            <a:r>
              <a:rPr lang="en-US" sz="2000" dirty="0"/>
              <a:t>0.08 × 0.65 = 0.052</a:t>
            </a:r>
          </a:p>
          <a:p>
            <a:pPr marL="457200" lvl="1" indent="0">
              <a:buNone/>
            </a:pPr>
            <a:r>
              <a:rPr lang="en-US" sz="2000" dirty="0"/>
              <a:t>0.02 × 0.85 = 0.017</a:t>
            </a:r>
          </a:p>
          <a:p>
            <a:pPr>
              <a:buNone/>
            </a:pPr>
            <a:r>
              <a:rPr lang="en-US" sz="2400" dirty="0"/>
              <a:t>Total = </a:t>
            </a:r>
            <a:r>
              <a:rPr lang="en-US" sz="2400" b="1" dirty="0"/>
              <a:t>0.204 (20.4%)</a:t>
            </a:r>
            <a:endParaRPr lang="en-US" sz="2400" dirty="0"/>
          </a:p>
          <a:p>
            <a:pPr>
              <a:buNone/>
            </a:pPr>
            <a:r>
              <a:rPr lang="en-US" sz="2400" dirty="0"/>
              <a:t>&gt; Expected CPAP need = </a:t>
            </a:r>
            <a:r>
              <a:rPr lang="en-US" sz="2400" b="1" dirty="0"/>
              <a:t>20.4% of admissions</a:t>
            </a:r>
            <a:endParaRPr lang="en-US" sz="2400" dirty="0"/>
          </a:p>
          <a:p>
            <a:endParaRPr lang="en-US" sz="2400" dirty="0"/>
          </a:p>
        </p:txBody>
      </p:sp>
    </p:spTree>
    <p:extLst>
      <p:ext uri="{BB962C8B-B14F-4D97-AF65-F5344CB8AC3E}">
        <p14:creationId xmlns:p14="http://schemas.microsoft.com/office/powerpoint/2010/main" val="30325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E050E-F44F-7D12-3941-B780196C5648}"/>
              </a:ext>
            </a:extLst>
          </p:cNvPr>
          <p:cNvSpPr>
            <a:spLocks noGrp="1"/>
          </p:cNvSpPr>
          <p:nvPr>
            <p:ph type="title"/>
          </p:nvPr>
        </p:nvSpPr>
        <p:spPr>
          <a:xfrm>
            <a:off x="838200" y="162825"/>
            <a:ext cx="10515600" cy="711116"/>
          </a:xfrm>
        </p:spPr>
        <p:txBody>
          <a:bodyPr>
            <a:normAutofit/>
          </a:bodyPr>
          <a:lstStyle/>
          <a:p>
            <a:r>
              <a:rPr lang="en-US" sz="3600" dirty="0"/>
              <a:t>CPAP – example facility (Level III Regional Hospital)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2E6BB5F-A2E1-A525-D1B3-0895A15AA6FB}"/>
                  </a:ext>
                </a:extLst>
              </p:cNvPr>
              <p:cNvSpPr>
                <a:spLocks noGrp="1"/>
              </p:cNvSpPr>
              <p:nvPr>
                <p:ph idx="1"/>
              </p:nvPr>
            </p:nvSpPr>
            <p:spPr>
              <a:xfrm>
                <a:off x="959581" y="995322"/>
                <a:ext cx="10515600" cy="5583503"/>
              </a:xfrm>
            </p:spPr>
            <p:txBody>
              <a:bodyPr>
                <a:normAutofit fontScale="62500" lnSpcReduction="20000"/>
              </a:bodyPr>
              <a:lstStyle/>
              <a:p>
                <a:pPr>
                  <a:buNone/>
                </a:pPr>
                <a:r>
                  <a:rPr lang="en-US" b="1" dirty="0"/>
                  <a:t>Estimate Concurrency</a:t>
                </a:r>
              </a:p>
              <a:p>
                <a:pPr>
                  <a:buNone/>
                </a:pPr>
                <a:r>
                  <a:rPr lang="en-US" dirty="0"/>
                  <a:t>Assume:</a:t>
                </a:r>
              </a:p>
              <a:p>
                <a:pPr>
                  <a:buFont typeface="Arial" panose="020B0604020202020204" pitchFamily="34" charset="0"/>
                  <a:buChar char="•"/>
                </a:pPr>
                <a:r>
                  <a:rPr lang="en-US" dirty="0"/>
                  <a:t>Avg CPAP duration = </a:t>
                </a:r>
                <a:r>
                  <a:rPr lang="en-US" b="1" dirty="0"/>
                  <a:t>3.5 days</a:t>
                </a:r>
                <a:r>
                  <a:rPr lang="en-US" dirty="0"/>
                  <a:t> (Level III longer duration)</a:t>
                </a:r>
              </a:p>
              <a:p>
                <a:pPr>
                  <a:buNone/>
                </a:pPr>
                <a:r>
                  <a:rPr lang="en-US" dirty="0"/>
                  <a:t>Formula:</a:t>
                </a:r>
              </a:p>
              <a:p>
                <a:pPr>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a:latin typeface="Cambria Math" panose="02040503050406030204" pitchFamily="18" charset="0"/>
                            </a:rPr>
                            <m:t>1200</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204</m:t>
                          </m:r>
                          <m:r>
                            <a:rPr lang="ar-AE" i="0">
                              <a:latin typeface="Cambria Math" panose="02040503050406030204" pitchFamily="18" charset="0"/>
                            </a:rPr>
                            <m:t>×</m:t>
                          </m:r>
                          <m:r>
                            <a:rPr lang="ar-AE" i="0">
                              <a:latin typeface="Cambria Math" panose="02040503050406030204" pitchFamily="18" charset="0"/>
                            </a:rPr>
                            <m:t>3</m:t>
                          </m:r>
                          <m:r>
                            <a:rPr lang="ar-AE" i="0">
                              <a:latin typeface="Cambria Math" panose="02040503050406030204" pitchFamily="18" charset="0"/>
                            </a:rPr>
                            <m:t>.</m:t>
                          </m:r>
                          <m:r>
                            <a:rPr lang="ar-AE" i="0">
                              <a:latin typeface="Cambria Math" panose="02040503050406030204" pitchFamily="18" charset="0"/>
                            </a:rPr>
                            <m:t>5</m:t>
                          </m:r>
                        </m:num>
                        <m:den>
                          <m:r>
                            <a:rPr lang="ar-AE" i="0">
                              <a:latin typeface="Cambria Math" panose="02040503050406030204" pitchFamily="18" charset="0"/>
                            </a:rPr>
                            <m:t>365</m:t>
                          </m:r>
                        </m:den>
                      </m:f>
                    </m:oMath>
                  </m:oMathPara>
                </a14:m>
                <a:endParaRPr lang="ar-AE" dirty="0"/>
              </a:p>
              <a:p>
                <a:pPr>
                  <a:buNone/>
                </a:pPr>
                <a:r>
                  <a:rPr lang="en-US" dirty="0"/>
                  <a:t>Steps:</a:t>
                </a:r>
              </a:p>
              <a:p>
                <a:pPr>
                  <a:buFont typeface="Arial" panose="020B0604020202020204" pitchFamily="34" charset="0"/>
                  <a:buChar char="•"/>
                </a:pPr>
                <a:r>
                  <a:rPr lang="en-US" dirty="0"/>
                  <a:t>1200 × 0.204 = 245 babies/year</a:t>
                </a:r>
              </a:p>
              <a:p>
                <a:pPr>
                  <a:buFont typeface="Arial" panose="020B0604020202020204" pitchFamily="34" charset="0"/>
                  <a:buChar char="•"/>
                </a:pPr>
                <a:r>
                  <a:rPr lang="en-US" dirty="0"/>
                  <a:t>245 × 3.5 = 857.5 CPAP-days</a:t>
                </a:r>
              </a:p>
              <a:p>
                <a:pPr>
                  <a:buFont typeface="Arial" panose="020B0604020202020204" pitchFamily="34" charset="0"/>
                  <a:buChar char="•"/>
                </a:pPr>
                <a:r>
                  <a:rPr lang="en-US" dirty="0"/>
                  <a:t>857.5 ÷ 365 = </a:t>
                </a:r>
                <a:r>
                  <a:rPr lang="en-US" b="1" dirty="0"/>
                  <a:t>2.35 machines needed simultaneously</a:t>
                </a:r>
                <a:endParaRPr lang="en-US" dirty="0"/>
              </a:p>
              <a:p>
                <a:pPr>
                  <a:buNone/>
                </a:pPr>
                <a:endParaRPr lang="en-US" b="1" dirty="0"/>
              </a:p>
              <a:p>
                <a:pPr>
                  <a:buNone/>
                </a:pPr>
                <a:r>
                  <a:rPr lang="en-US" b="1" dirty="0"/>
                  <a:t>Add Operational Buffer (15%)</a:t>
                </a:r>
              </a:p>
              <a:p>
                <a:pPr>
                  <a:buNone/>
                </a:pPr>
                <a:r>
                  <a:rPr lang="en-US" dirty="0"/>
                  <a:t>2.35 × 1.15 = </a:t>
                </a:r>
                <a:r>
                  <a:rPr lang="en-US" b="1" dirty="0"/>
                  <a:t>2.7</a:t>
                </a:r>
                <a:endParaRPr lang="en-US" dirty="0"/>
              </a:p>
              <a:p>
                <a:pPr>
                  <a:buNone/>
                </a:pPr>
                <a:r>
                  <a:rPr lang="en-US" dirty="0"/>
                  <a:t>&gt; Round up = </a:t>
                </a:r>
                <a:r>
                  <a:rPr lang="en-US" b="1" dirty="0"/>
                  <a:t>3 CPAP machines recommended</a:t>
                </a:r>
                <a:endParaRPr lang="en-US" dirty="0"/>
              </a:p>
              <a:p>
                <a:pPr>
                  <a:buNone/>
                </a:pPr>
                <a:endParaRPr lang="en-US" b="1" dirty="0"/>
              </a:p>
              <a:p>
                <a:pPr>
                  <a:buNone/>
                </a:pPr>
                <a:r>
                  <a:rPr lang="en-US" b="1" dirty="0"/>
                  <a:t>Interpretation</a:t>
                </a:r>
              </a:p>
              <a:p>
                <a:pPr>
                  <a:buNone/>
                </a:pPr>
                <a:r>
                  <a:rPr lang="en-US" dirty="0"/>
                  <a:t>This facility should have </a:t>
                </a:r>
                <a:r>
                  <a:rPr lang="en-US" b="1" dirty="0"/>
                  <a:t>at least 3 functioning CPAP machines</a:t>
                </a:r>
                <a:r>
                  <a:rPr lang="en-US" dirty="0"/>
                  <a:t>.</a:t>
                </a:r>
              </a:p>
              <a:p>
                <a:endParaRPr lang="en-US" dirty="0"/>
              </a:p>
            </p:txBody>
          </p:sp>
        </mc:Choice>
        <mc:Fallback>
          <p:sp>
            <p:nvSpPr>
              <p:cNvPr id="3" name="Content Placeholder 2">
                <a:extLst>
                  <a:ext uri="{FF2B5EF4-FFF2-40B4-BE49-F238E27FC236}">
                    <a16:creationId xmlns:a16="http://schemas.microsoft.com/office/drawing/2014/main" id="{D2E6BB5F-A2E1-A525-D1B3-0895A15AA6FB}"/>
                  </a:ext>
                </a:extLst>
              </p:cNvPr>
              <p:cNvSpPr>
                <a:spLocks noGrp="1" noRot="1" noChangeAspect="1" noMove="1" noResize="1" noEditPoints="1" noAdjustHandles="1" noChangeArrowheads="1" noChangeShapeType="1" noTextEdit="1"/>
              </p:cNvSpPr>
              <p:nvPr>
                <p:ph idx="1"/>
              </p:nvPr>
            </p:nvSpPr>
            <p:spPr>
              <a:xfrm>
                <a:off x="959581" y="995322"/>
                <a:ext cx="10515600" cy="5583503"/>
              </a:xfrm>
              <a:blipFill>
                <a:blip r:embed="rId2"/>
                <a:stretch>
                  <a:fillRect l="-464" t="-1638"/>
                </a:stretch>
              </a:blipFill>
            </p:spPr>
            <p:txBody>
              <a:bodyPr/>
              <a:lstStyle/>
              <a:p>
                <a:r>
                  <a:rPr lang="en-US">
                    <a:noFill/>
                  </a:rPr>
                  <a:t> </a:t>
                </a:r>
              </a:p>
            </p:txBody>
          </p:sp>
        </mc:Fallback>
      </mc:AlternateContent>
    </p:spTree>
    <p:extLst>
      <p:ext uri="{BB962C8B-B14F-4D97-AF65-F5344CB8AC3E}">
        <p14:creationId xmlns:p14="http://schemas.microsoft.com/office/powerpoint/2010/main" val="1752845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514</Words>
  <Application>Microsoft Office PowerPoint</Application>
  <PresentationFormat>Widescreen</PresentationFormat>
  <Paragraphs>86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Cambria Math</vt:lpstr>
      <vt:lpstr>Wingdings</vt:lpstr>
      <vt:lpstr>Office Theme</vt:lpstr>
      <vt:lpstr>Developing a device estimation needs tool</vt:lpstr>
      <vt:lpstr>Starting with CPAP</vt:lpstr>
      <vt:lpstr>Scaling device estimation using historical data</vt:lpstr>
      <vt:lpstr>CPAP devices estimation - methodology</vt:lpstr>
      <vt:lpstr>CPAP – example facility (Level III Regional Hospital)</vt:lpstr>
      <vt:lpstr>CPAP – example facility (Level III Regional Hospital)</vt:lpstr>
      <vt:lpstr>CPAP – example facility (Level III Regional Hospital)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Mwangi</dc:creator>
  <cp:lastModifiedBy>John Mwangi</cp:lastModifiedBy>
  <cp:revision>1</cp:revision>
  <dcterms:created xsi:type="dcterms:W3CDTF">2026-02-12T10:16:28Z</dcterms:created>
  <dcterms:modified xsi:type="dcterms:W3CDTF">2026-02-12T11:10:59Z</dcterms:modified>
</cp:coreProperties>
</file>