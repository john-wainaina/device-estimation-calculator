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6" r:id="rId9"/>
    <p:sldId id="261" r:id="rId10"/>
    <p:sldId id="264" r:id="rId11"/>
    <p:sldId id="263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4660"/>
  </p:normalViewPr>
  <p:slideViewPr>
    <p:cSldViewPr snapToGrid="0">
      <p:cViewPr varScale="1">
        <p:scale>
          <a:sx n="70" d="100"/>
          <a:sy n="70" d="100"/>
        </p:scale>
        <p:origin x="3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Mwangi" userId="72dc851f-8d8f-4a59-88b4-7c5e044853c3" providerId="ADAL" clId="{3437D3E5-8980-4486-9498-DD33F02BC9E8}"/>
    <pc:docChg chg="undo custSel addSld modSld sldOrd">
      <pc:chgData name="John Mwangi" userId="72dc851f-8d8f-4a59-88b4-7c5e044853c3" providerId="ADAL" clId="{3437D3E5-8980-4486-9498-DD33F02BC9E8}" dt="2026-03-05T11:06:23.426" v="1904" actId="20577"/>
      <pc:docMkLst>
        <pc:docMk/>
      </pc:docMkLst>
      <pc:sldChg chg="modSp mod">
        <pc:chgData name="John Mwangi" userId="72dc851f-8d8f-4a59-88b4-7c5e044853c3" providerId="ADAL" clId="{3437D3E5-8980-4486-9498-DD33F02BC9E8}" dt="2026-02-24T12:52:48.180" v="1901" actId="14100"/>
        <pc:sldMkLst>
          <pc:docMk/>
          <pc:sldMk cId="1197081850" sldId="256"/>
        </pc:sldMkLst>
        <pc:spChg chg="mod">
          <ac:chgData name="John Mwangi" userId="72dc851f-8d8f-4a59-88b4-7c5e044853c3" providerId="ADAL" clId="{3437D3E5-8980-4486-9498-DD33F02BC9E8}" dt="2026-02-24T12:52:41.352" v="1899" actId="113"/>
          <ac:spMkLst>
            <pc:docMk/>
            <pc:sldMk cId="1197081850" sldId="256"/>
            <ac:spMk id="2" creationId="{52C911F9-5F91-A875-178C-93CE35EC291B}"/>
          </ac:spMkLst>
        </pc:spChg>
        <pc:spChg chg="mod">
          <ac:chgData name="John Mwangi" userId="72dc851f-8d8f-4a59-88b4-7c5e044853c3" providerId="ADAL" clId="{3437D3E5-8980-4486-9498-DD33F02BC9E8}" dt="2026-02-24T12:52:48.180" v="1901" actId="14100"/>
          <ac:spMkLst>
            <pc:docMk/>
            <pc:sldMk cId="1197081850" sldId="256"/>
            <ac:spMk id="3" creationId="{5BBEEA8B-0771-3C50-6937-C728C40E01DA}"/>
          </ac:spMkLst>
        </pc:spChg>
      </pc:sldChg>
      <pc:sldChg chg="modSp mod">
        <pc:chgData name="John Mwangi" userId="72dc851f-8d8f-4a59-88b4-7c5e044853c3" providerId="ADAL" clId="{3437D3E5-8980-4486-9498-DD33F02BC9E8}" dt="2026-02-24T12:34:00.349" v="1431" actId="20577"/>
        <pc:sldMkLst>
          <pc:docMk/>
          <pc:sldMk cId="3387935431" sldId="257"/>
        </pc:sldMkLst>
        <pc:spChg chg="mod">
          <ac:chgData name="John Mwangi" userId="72dc851f-8d8f-4a59-88b4-7c5e044853c3" providerId="ADAL" clId="{3437D3E5-8980-4486-9498-DD33F02BC9E8}" dt="2026-02-24T12:07:36.035" v="176"/>
          <ac:spMkLst>
            <pc:docMk/>
            <pc:sldMk cId="3387935431" sldId="257"/>
            <ac:spMk id="2" creationId="{7C0C1824-5C5A-DF89-AB89-962D52AF811A}"/>
          </ac:spMkLst>
        </pc:spChg>
        <pc:spChg chg="mod">
          <ac:chgData name="John Mwangi" userId="72dc851f-8d8f-4a59-88b4-7c5e044853c3" providerId="ADAL" clId="{3437D3E5-8980-4486-9498-DD33F02BC9E8}" dt="2026-02-24T12:34:00.349" v="1431" actId="20577"/>
          <ac:spMkLst>
            <pc:docMk/>
            <pc:sldMk cId="3387935431" sldId="257"/>
            <ac:spMk id="3" creationId="{13DA1CEF-8B19-EC9F-1C04-C30957E4E45A}"/>
          </ac:spMkLst>
        </pc:spChg>
      </pc:sldChg>
      <pc:sldChg chg="modSp mod">
        <pc:chgData name="John Mwangi" userId="72dc851f-8d8f-4a59-88b4-7c5e044853c3" providerId="ADAL" clId="{3437D3E5-8980-4486-9498-DD33F02BC9E8}" dt="2026-03-05T11:06:23.426" v="1904" actId="20577"/>
        <pc:sldMkLst>
          <pc:docMk/>
          <pc:sldMk cId="441869317" sldId="258"/>
        </pc:sldMkLst>
        <pc:spChg chg="mod">
          <ac:chgData name="John Mwangi" userId="72dc851f-8d8f-4a59-88b4-7c5e044853c3" providerId="ADAL" clId="{3437D3E5-8980-4486-9498-DD33F02BC9E8}" dt="2026-02-24T12:06:54.150" v="122" actId="1076"/>
          <ac:spMkLst>
            <pc:docMk/>
            <pc:sldMk cId="441869317" sldId="258"/>
            <ac:spMk id="2" creationId="{E29E8F72-647B-A119-2F99-678E1E7FAF22}"/>
          </ac:spMkLst>
        </pc:spChg>
        <pc:spChg chg="mod">
          <ac:chgData name="John Mwangi" userId="72dc851f-8d8f-4a59-88b4-7c5e044853c3" providerId="ADAL" clId="{3437D3E5-8980-4486-9498-DD33F02BC9E8}" dt="2026-03-05T11:06:23.426" v="1904" actId="20577"/>
          <ac:spMkLst>
            <pc:docMk/>
            <pc:sldMk cId="441869317" sldId="258"/>
            <ac:spMk id="3" creationId="{0C3AE064-2516-68E6-1CC8-169086ED0386}"/>
          </ac:spMkLst>
        </pc:spChg>
      </pc:sldChg>
      <pc:sldChg chg="modSp mod">
        <pc:chgData name="John Mwangi" userId="72dc851f-8d8f-4a59-88b4-7c5e044853c3" providerId="ADAL" clId="{3437D3E5-8980-4486-9498-DD33F02BC9E8}" dt="2026-02-24T12:33:43.414" v="1429" actId="27636"/>
        <pc:sldMkLst>
          <pc:docMk/>
          <pc:sldMk cId="59715496" sldId="259"/>
        </pc:sldMkLst>
        <pc:spChg chg="mod">
          <ac:chgData name="John Mwangi" userId="72dc851f-8d8f-4a59-88b4-7c5e044853c3" providerId="ADAL" clId="{3437D3E5-8980-4486-9498-DD33F02BC9E8}" dt="2026-02-24T12:06:45.857" v="118"/>
          <ac:spMkLst>
            <pc:docMk/>
            <pc:sldMk cId="59715496" sldId="259"/>
            <ac:spMk id="2" creationId="{C57EDDDF-0D60-D53E-64EC-C2DEABACE9B7}"/>
          </ac:spMkLst>
        </pc:spChg>
        <pc:spChg chg="mod">
          <ac:chgData name="John Mwangi" userId="72dc851f-8d8f-4a59-88b4-7c5e044853c3" providerId="ADAL" clId="{3437D3E5-8980-4486-9498-DD33F02BC9E8}" dt="2026-02-24T12:33:43.414" v="1429" actId="27636"/>
          <ac:spMkLst>
            <pc:docMk/>
            <pc:sldMk cId="59715496" sldId="259"/>
            <ac:spMk id="3" creationId="{AB147D12-2D33-3D39-AC21-1671CDA4C1AA}"/>
          </ac:spMkLst>
        </pc:spChg>
      </pc:sldChg>
      <pc:sldChg chg="addSp delSp modSp mod">
        <pc:chgData name="John Mwangi" userId="72dc851f-8d8f-4a59-88b4-7c5e044853c3" providerId="ADAL" clId="{3437D3E5-8980-4486-9498-DD33F02BC9E8}" dt="2026-02-24T12:07:43.645" v="177"/>
        <pc:sldMkLst>
          <pc:docMk/>
          <pc:sldMk cId="3073589347" sldId="260"/>
        </pc:sldMkLst>
        <pc:spChg chg="mod">
          <ac:chgData name="John Mwangi" userId="72dc851f-8d8f-4a59-88b4-7c5e044853c3" providerId="ADAL" clId="{3437D3E5-8980-4486-9498-DD33F02BC9E8}" dt="2026-02-24T12:07:43.645" v="177"/>
          <ac:spMkLst>
            <pc:docMk/>
            <pc:sldMk cId="3073589347" sldId="260"/>
            <ac:spMk id="2" creationId="{46E2BCBD-2976-2838-81BD-BAC9813F9A5F}"/>
          </ac:spMkLst>
        </pc:spChg>
        <pc:spChg chg="add mod">
          <ac:chgData name="John Mwangi" userId="72dc851f-8d8f-4a59-88b4-7c5e044853c3" providerId="ADAL" clId="{3437D3E5-8980-4486-9498-DD33F02BC9E8}" dt="2026-02-24T09:36:42.652" v="61" actId="1076"/>
          <ac:spMkLst>
            <pc:docMk/>
            <pc:sldMk cId="3073589347" sldId="260"/>
            <ac:spMk id="5" creationId="{C5CC4D85-E61D-0A69-3460-8DCA0F1A6DDF}"/>
          </ac:spMkLst>
        </pc:spChg>
        <pc:graphicFrameChg chg="add mod modGraphic">
          <ac:chgData name="John Mwangi" userId="72dc851f-8d8f-4a59-88b4-7c5e044853c3" providerId="ADAL" clId="{3437D3E5-8980-4486-9498-DD33F02BC9E8}" dt="2026-02-24T09:35:56.316" v="28" actId="1076"/>
          <ac:graphicFrameMkLst>
            <pc:docMk/>
            <pc:sldMk cId="3073589347" sldId="260"/>
            <ac:graphicFrameMk id="4" creationId="{BFA96EE1-D87D-3335-FBBE-B8AB2EA91A14}"/>
          </ac:graphicFrameMkLst>
        </pc:graphicFrameChg>
      </pc:sldChg>
      <pc:sldChg chg="modSp mod">
        <pc:chgData name="John Mwangi" userId="72dc851f-8d8f-4a59-88b4-7c5e044853c3" providerId="ADAL" clId="{3437D3E5-8980-4486-9498-DD33F02BC9E8}" dt="2026-02-24T12:07:52.302" v="178"/>
        <pc:sldMkLst>
          <pc:docMk/>
          <pc:sldMk cId="3228946899" sldId="261"/>
        </pc:sldMkLst>
        <pc:spChg chg="mod">
          <ac:chgData name="John Mwangi" userId="72dc851f-8d8f-4a59-88b4-7c5e044853c3" providerId="ADAL" clId="{3437D3E5-8980-4486-9498-DD33F02BC9E8}" dt="2026-02-24T12:07:52.302" v="178"/>
          <ac:spMkLst>
            <pc:docMk/>
            <pc:sldMk cId="3228946899" sldId="261"/>
            <ac:spMk id="2" creationId="{9110BED9-3CAB-4650-7F73-2EE28040C29D}"/>
          </ac:spMkLst>
        </pc:spChg>
        <pc:spChg chg="mod">
          <ac:chgData name="John Mwangi" userId="72dc851f-8d8f-4a59-88b4-7c5e044853c3" providerId="ADAL" clId="{3437D3E5-8980-4486-9498-DD33F02BC9E8}" dt="2026-02-24T12:06:18.373" v="108" actId="27636"/>
          <ac:spMkLst>
            <pc:docMk/>
            <pc:sldMk cId="3228946899" sldId="261"/>
            <ac:spMk id="3" creationId="{53476CE8-502E-3DA5-6959-D79C4F45EE58}"/>
          </ac:spMkLst>
        </pc:spChg>
      </pc:sldChg>
      <pc:sldChg chg="addSp delSp modSp new mod">
        <pc:chgData name="John Mwangi" userId="72dc851f-8d8f-4a59-88b4-7c5e044853c3" providerId="ADAL" clId="{3437D3E5-8980-4486-9498-DD33F02BC9E8}" dt="2026-02-24T12:04:56.060" v="106" actId="20577"/>
        <pc:sldMkLst>
          <pc:docMk/>
          <pc:sldMk cId="1195886148" sldId="262"/>
        </pc:sldMkLst>
        <pc:spChg chg="mod">
          <ac:chgData name="John Mwangi" userId="72dc851f-8d8f-4a59-88b4-7c5e044853c3" providerId="ADAL" clId="{3437D3E5-8980-4486-9498-DD33F02BC9E8}" dt="2026-02-24T09:47:07.418" v="93" actId="20577"/>
          <ac:spMkLst>
            <pc:docMk/>
            <pc:sldMk cId="1195886148" sldId="262"/>
            <ac:spMk id="2" creationId="{DEEC2180-AD79-E8A4-1496-14A0BC12ECF7}"/>
          </ac:spMkLst>
        </pc:spChg>
        <pc:spChg chg="add mod">
          <ac:chgData name="John Mwangi" userId="72dc851f-8d8f-4a59-88b4-7c5e044853c3" providerId="ADAL" clId="{3437D3E5-8980-4486-9498-DD33F02BC9E8}" dt="2026-02-24T12:04:56.060" v="106" actId="20577"/>
          <ac:spMkLst>
            <pc:docMk/>
            <pc:sldMk cId="1195886148" sldId="262"/>
            <ac:spMk id="5" creationId="{47D5D0A2-FDDF-AC09-B683-54A8451395BF}"/>
          </ac:spMkLst>
        </pc:spChg>
      </pc:sldChg>
      <pc:sldChg chg="modSp new mod">
        <pc:chgData name="John Mwangi" userId="72dc851f-8d8f-4a59-88b4-7c5e044853c3" providerId="ADAL" clId="{3437D3E5-8980-4486-9498-DD33F02BC9E8}" dt="2026-02-24T12:32:23.312" v="1420" actId="20577"/>
        <pc:sldMkLst>
          <pc:docMk/>
          <pc:sldMk cId="4018328761" sldId="263"/>
        </pc:sldMkLst>
        <pc:spChg chg="mod">
          <ac:chgData name="John Mwangi" userId="72dc851f-8d8f-4a59-88b4-7c5e044853c3" providerId="ADAL" clId="{3437D3E5-8980-4486-9498-DD33F02BC9E8}" dt="2026-02-24T12:31:54.103" v="1410" actId="14100"/>
          <ac:spMkLst>
            <pc:docMk/>
            <pc:sldMk cId="4018328761" sldId="263"/>
            <ac:spMk id="2" creationId="{A9BB26DE-58EB-9052-52D2-DB15E990BCF8}"/>
          </ac:spMkLst>
        </pc:spChg>
        <pc:spChg chg="mod">
          <ac:chgData name="John Mwangi" userId="72dc851f-8d8f-4a59-88b4-7c5e044853c3" providerId="ADAL" clId="{3437D3E5-8980-4486-9498-DD33F02BC9E8}" dt="2026-02-24T12:32:23.312" v="1420" actId="20577"/>
          <ac:spMkLst>
            <pc:docMk/>
            <pc:sldMk cId="4018328761" sldId="263"/>
            <ac:spMk id="3" creationId="{27F80486-1D5B-9DA5-A129-F9E6B12DCC19}"/>
          </ac:spMkLst>
        </pc:spChg>
      </pc:sldChg>
      <pc:sldChg chg="addSp delSp modSp new mod ord">
        <pc:chgData name="John Mwangi" userId="72dc851f-8d8f-4a59-88b4-7c5e044853c3" providerId="ADAL" clId="{3437D3E5-8980-4486-9498-DD33F02BC9E8}" dt="2026-02-24T12:50:43.908" v="1898" actId="20577"/>
        <pc:sldMkLst>
          <pc:docMk/>
          <pc:sldMk cId="3137650264" sldId="264"/>
        </pc:sldMkLst>
        <pc:spChg chg="mod">
          <ac:chgData name="John Mwangi" userId="72dc851f-8d8f-4a59-88b4-7c5e044853c3" providerId="ADAL" clId="{3437D3E5-8980-4486-9498-DD33F02BC9E8}" dt="2026-02-24T12:50:43.908" v="1898" actId="20577"/>
          <ac:spMkLst>
            <pc:docMk/>
            <pc:sldMk cId="3137650264" sldId="264"/>
            <ac:spMk id="2" creationId="{2EBE67FB-E29C-2463-F175-3944FE782472}"/>
          </ac:spMkLst>
        </pc:spChg>
        <pc:graphicFrameChg chg="add mod ord modGraphic">
          <ac:chgData name="John Mwangi" userId="72dc851f-8d8f-4a59-88b4-7c5e044853c3" providerId="ADAL" clId="{3437D3E5-8980-4486-9498-DD33F02BC9E8}" dt="2026-02-24T12:50:29.117" v="1871" actId="113"/>
          <ac:graphicFrameMkLst>
            <pc:docMk/>
            <pc:sldMk cId="3137650264" sldId="264"/>
            <ac:graphicFrameMk id="6" creationId="{A29B46F2-0E46-F4C1-FD99-51B91432381E}"/>
          </ac:graphicFrameMkLst>
        </pc:graphicFrameChg>
      </pc:sldChg>
      <pc:sldChg chg="addSp delSp modSp new mod ord">
        <pc:chgData name="John Mwangi" userId="72dc851f-8d8f-4a59-88b4-7c5e044853c3" providerId="ADAL" clId="{3437D3E5-8980-4486-9498-DD33F02BC9E8}" dt="2026-02-24T12:32:41.746" v="1424"/>
        <pc:sldMkLst>
          <pc:docMk/>
          <pc:sldMk cId="253854619" sldId="265"/>
        </pc:sldMkLst>
        <pc:spChg chg="mod">
          <ac:chgData name="John Mwangi" userId="72dc851f-8d8f-4a59-88b4-7c5e044853c3" providerId="ADAL" clId="{3437D3E5-8980-4486-9498-DD33F02BC9E8}" dt="2026-02-24T12:27:47.895" v="859" actId="27636"/>
          <ac:spMkLst>
            <pc:docMk/>
            <pc:sldMk cId="253854619" sldId="265"/>
            <ac:spMk id="2" creationId="{2A8D5EC3-19D4-F4A0-F080-A02A82EBC900}"/>
          </ac:spMkLst>
        </pc:spChg>
        <pc:spChg chg="add mod">
          <ac:chgData name="John Mwangi" userId="72dc851f-8d8f-4a59-88b4-7c5e044853c3" providerId="ADAL" clId="{3437D3E5-8980-4486-9498-DD33F02BC9E8}" dt="2026-02-24T12:27:50.828" v="860" actId="1076"/>
          <ac:spMkLst>
            <pc:docMk/>
            <pc:sldMk cId="253854619" sldId="265"/>
            <ac:spMk id="5" creationId="{1740F67F-ED2F-9A41-8E8E-AC15F0EADE35}"/>
          </ac:spMkLst>
        </pc:spChg>
        <pc:graphicFrameChg chg="add mod ord modGraphic">
          <ac:chgData name="John Mwangi" userId="72dc851f-8d8f-4a59-88b4-7c5e044853c3" providerId="ADAL" clId="{3437D3E5-8980-4486-9498-DD33F02BC9E8}" dt="2026-02-24T12:27:45.033" v="857" actId="1076"/>
          <ac:graphicFrameMkLst>
            <pc:docMk/>
            <pc:sldMk cId="253854619" sldId="265"/>
            <ac:graphicFrameMk id="4" creationId="{C990FFEC-B38B-CADE-F198-B302995DCB54}"/>
          </ac:graphicFrameMkLst>
        </pc:graphicFrameChg>
      </pc:sldChg>
      <pc:sldChg chg="addSp modSp add mod ord">
        <pc:chgData name="John Mwangi" userId="72dc851f-8d8f-4a59-88b4-7c5e044853c3" providerId="ADAL" clId="{3437D3E5-8980-4486-9498-DD33F02BC9E8}" dt="2026-02-24T12:32:41.746" v="1424"/>
        <pc:sldMkLst>
          <pc:docMk/>
          <pc:sldMk cId="2463610156" sldId="266"/>
        </pc:sldMkLst>
        <pc:spChg chg="add mod">
          <ac:chgData name="John Mwangi" userId="72dc851f-8d8f-4a59-88b4-7c5e044853c3" providerId="ADAL" clId="{3437D3E5-8980-4486-9498-DD33F02BC9E8}" dt="2026-02-24T12:30:36.263" v="1184" actId="20577"/>
          <ac:spMkLst>
            <pc:docMk/>
            <pc:sldMk cId="2463610156" sldId="266"/>
            <ac:spMk id="3" creationId="{F1731365-6362-960C-AC69-C6404B34B218}"/>
          </ac:spMkLst>
        </pc:spChg>
        <pc:graphicFrameChg chg="mod modGraphic">
          <ac:chgData name="John Mwangi" userId="72dc851f-8d8f-4a59-88b4-7c5e044853c3" providerId="ADAL" clId="{3437D3E5-8980-4486-9498-DD33F02BC9E8}" dt="2026-02-24T12:28:08.393" v="872" actId="20577"/>
          <ac:graphicFrameMkLst>
            <pc:docMk/>
            <pc:sldMk cId="2463610156" sldId="266"/>
            <ac:graphicFrameMk id="4" creationId="{0560B26C-CD9D-6E75-BFDA-E250E4E55671}"/>
          </ac:graphicFrameMkLst>
        </pc:graphicFrameChg>
      </pc:sldChg>
      <pc:sldChg chg="modSp new mod">
        <pc:chgData name="John Mwangi" userId="72dc851f-8d8f-4a59-88b4-7c5e044853c3" providerId="ADAL" clId="{3437D3E5-8980-4486-9498-DD33F02BC9E8}" dt="2026-02-24T12:35:35.942" v="1653" actId="14100"/>
        <pc:sldMkLst>
          <pc:docMk/>
          <pc:sldMk cId="4164352983" sldId="267"/>
        </pc:sldMkLst>
        <pc:spChg chg="mod">
          <ac:chgData name="John Mwangi" userId="72dc851f-8d8f-4a59-88b4-7c5e044853c3" providerId="ADAL" clId="{3437D3E5-8980-4486-9498-DD33F02BC9E8}" dt="2026-02-24T12:35:35.942" v="1653" actId="14100"/>
          <ac:spMkLst>
            <pc:docMk/>
            <pc:sldMk cId="4164352983" sldId="267"/>
            <ac:spMk id="2" creationId="{8CFAB90E-4464-1086-5D76-99A01E8502D9}"/>
          </ac:spMkLst>
        </pc:spChg>
        <pc:spChg chg="mod">
          <ac:chgData name="John Mwangi" userId="72dc851f-8d8f-4a59-88b4-7c5e044853c3" providerId="ADAL" clId="{3437D3E5-8980-4486-9498-DD33F02BC9E8}" dt="2026-02-24T12:35:33.704" v="1652" actId="14100"/>
          <ac:spMkLst>
            <pc:docMk/>
            <pc:sldMk cId="4164352983" sldId="267"/>
            <ac:spMk id="3" creationId="{08569DC2-74EB-395A-DF63-956194E2138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A0A32-6995-C282-C17A-B2DFD5D97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9F39AE-146D-BA97-09F4-7C5E96F68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F2EA4-AA7D-1472-9776-5FB9BACE4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3F7E-46A4-433F-904F-3983275293A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A0FBB-D8F7-DC1A-962D-60E8F8FA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9BDC4-0D30-157D-2190-C0258ADBB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FBAA-3F09-4BEC-8291-7E428CBF5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28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60F6D-4BE9-3DF3-C1B6-82819A991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199DE-ED62-D24A-B289-5B20986B3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18132-78E4-A563-E96F-6CCCD4D0A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3F7E-46A4-433F-904F-3983275293A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E3311-31FE-8F6E-1BFE-A51EC5DE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28C45-E303-257F-5455-A96157EDA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FBAA-3F09-4BEC-8291-7E428CBF5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49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D9C40-FAFB-8B10-D5ED-0694732E9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D1006-D990-55B9-9FA6-6F5CA21C4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DB825-8B17-CA35-E183-55E7B5523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3F7E-46A4-433F-904F-3983275293A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AD022-FB1C-E68D-15A2-C37B3AAAF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61C6D-1359-CFFB-B1BD-9EFB7F43F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FBAA-3F09-4BEC-8291-7E428CBF5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023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1CBE5-C81D-C80E-25B7-5C2699403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4365A-8D0B-DD56-5FB3-7DE60114FF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75DC85-5266-697B-C57C-4E7E9A1BE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A20428-3474-C2CE-E32C-CE386E046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3F7E-46A4-433F-904F-3983275293A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36468-8B50-B0C9-8348-5D1BED96E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E6D8F-1F78-20C3-FA24-E8B150568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FBAA-3F09-4BEC-8291-7E428CBF5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666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401BA-A3EA-31E3-CBDE-6BBD82B47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C7807-E152-9651-5124-7E5672524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6AABA-B20D-0E83-284E-9BA894173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C89368-DC13-E78B-1EE7-778F966DF6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7CD22B-13FD-AD98-4E67-445012E7AA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22F283-1735-E482-CA9B-862DDCD81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3F7E-46A4-433F-904F-3983275293A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5017C4-5D83-F4E4-B6CA-30D87B575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2C5051-2375-75CA-157D-B511F7340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FBAA-3F09-4BEC-8291-7E428CBF5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763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51E49-301C-1470-793A-5EB9F6BC6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662B22-A093-C90E-75CB-8C88D9A21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3F7E-46A4-433F-904F-3983275293A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45C2B0-9339-8F49-2139-D35E6A020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A57A12-098D-3E5C-3F60-360872DFB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FBAA-3F09-4BEC-8291-7E428CBF5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434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529CB6-652F-418E-7449-9316BFA24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3F7E-46A4-433F-904F-3983275293A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73648C-94CD-AEB4-9460-6AD5F514E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63CBE-B32D-4E24-0388-25BF85ED8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FBAA-3F09-4BEC-8291-7E428CBF5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623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2D6F0-8CFF-7F2C-2D2A-33DA9BDEF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736BF-E79B-D2C7-8EA4-55523E744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FBCAC6-22B1-12F1-5568-E6287EB276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4CD17D-5E24-A498-4616-1B9AD2EA6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3F7E-46A4-433F-904F-3983275293A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1DE55-B078-88CC-2DF3-36267F1D1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34B7F-91CE-C07E-D838-98895A15B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FBAA-3F09-4BEC-8291-7E428CBF5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73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9F109-4565-4791-800F-A0CCA5AEC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AE7D21-2EA0-5E5F-5CCC-DED0487F02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B24F6-1247-4B5A-13BA-6D9AD79D1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B69364-CC28-F69F-0430-42DDE2408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3F7E-46A4-433F-904F-3983275293A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FFD37-04DB-A535-B523-D9F5072C9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544FE-97CA-5E14-D64F-AC470AA8D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FBAA-3F09-4BEC-8291-7E428CBF5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035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EACC-3622-DEB3-5CCD-613D2AE62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376E68-BC9B-0131-97B0-7414F41577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34B00-E218-D494-0B17-06B55DD99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3F7E-46A4-433F-904F-3983275293A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BD669-2195-1044-BC5E-CBFD7511C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65032-2F3F-8C66-3005-85C44BA8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FBAA-3F09-4BEC-8291-7E428CBF5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371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4E3AEF-2B81-9C4C-4044-6F652A9582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E8F27D-9DC3-F566-E4A0-047D2A2DC5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149AA-D925-1C21-7740-018375936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53F7E-46A4-433F-904F-3983275293A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5EC36-CBA6-E80A-F543-AD12A23BC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C1D24-02F3-348F-408E-51D9C9C6C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FBAA-3F09-4BEC-8291-7E428CBF5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587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23E1BB-FF06-14BD-199E-A04DE4C28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D2AB9-BAC4-9EDB-5C23-A1B8DE1CC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9D6B3-A489-9DBC-7933-812198CF76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253F7E-46A4-433F-904F-3983275293A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370E4-3683-D302-CC0C-7781FB9923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B7524-F8D1-6F3B-A284-409606524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A3FBAA-3F09-4BEC-8291-7E428CBF5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10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911F9-5F91-A875-178C-93CE35EC29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CPAP Calculator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EEA8B-0771-3C50-6937-C728C40E01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7790"/>
            <a:ext cx="9144000" cy="880009"/>
          </a:xfrm>
        </p:spPr>
        <p:txBody>
          <a:bodyPr/>
          <a:lstStyle/>
          <a:p>
            <a:r>
              <a:rPr lang="en-US" b="1" dirty="0"/>
              <a:t>Data for Action Deep Dive </a:t>
            </a:r>
          </a:p>
          <a:p>
            <a:r>
              <a:rPr lang="en-US" b="1" dirty="0"/>
              <a:t>24</a:t>
            </a:r>
            <a:r>
              <a:rPr lang="en-US" b="1" baseline="30000" dirty="0"/>
              <a:t>th</a:t>
            </a:r>
            <a:r>
              <a:rPr lang="en-US" b="1" dirty="0"/>
              <a:t> February 2026</a:t>
            </a:r>
          </a:p>
        </p:txBody>
      </p:sp>
    </p:spTree>
    <p:extLst>
      <p:ext uri="{BB962C8B-B14F-4D97-AF65-F5344CB8AC3E}">
        <p14:creationId xmlns:p14="http://schemas.microsoft.com/office/powerpoint/2010/main" val="1197081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C1824-5C5A-DF89-AB89-962D52AF8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732"/>
            <a:ext cx="10515600" cy="60591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Objective &amp; conceptual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A1CEF-8B19-EC9F-1C04-C30957E4E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5849"/>
            <a:ext cx="10515600" cy="569679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Goal: Estimate the number of CPAP devices needed per facility to meet neonatal demand.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Approach: Combines data-driven metrics and expert opinion, stratified by facility neonatal care level (Level I*/II/III).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Uses: Facility-level admissions, patient weight categories, LOS, device functionality, surge factor, and neonatal level.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Designed for planning &amp; resource allocation, not as exact counts for individual patients.</a:t>
            </a:r>
          </a:p>
        </p:txBody>
      </p:sp>
    </p:spTree>
    <p:extLst>
      <p:ext uri="{BB962C8B-B14F-4D97-AF65-F5344CB8AC3E}">
        <p14:creationId xmlns:p14="http://schemas.microsoft.com/office/powerpoint/2010/main" val="3387935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E8F72-647B-A119-2F99-678E1E7FA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561"/>
            <a:ext cx="10515600" cy="654471"/>
          </a:xfrm>
        </p:spPr>
        <p:txBody>
          <a:bodyPr>
            <a:normAutofit fontScale="90000"/>
          </a:bodyPr>
          <a:lstStyle/>
          <a:p>
            <a:r>
              <a:rPr lang="en-US" dirty="0"/>
              <a:t>Principles of the calculator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AE064-2516-68E6-1CC8-169086ED0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4726"/>
            <a:ext cx="10515600" cy="488223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Weight-stratified eligibility</a:t>
            </a:r>
            <a:r>
              <a:rPr lang="en-US" sz="2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&lt;2000g → criteria-based (clinical eligibility)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≥2000g → expert-opinion rates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Hybrid estimation</a:t>
            </a:r>
            <a:r>
              <a:rPr lang="en-US" sz="2400" dirty="0"/>
              <a:t>: Higher of criteria/expert estimate vs. actual CPAP given.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Concurrent demand</a:t>
            </a:r>
            <a:r>
              <a:rPr lang="en-US" sz="2400" dirty="0"/>
              <a:t>: Calculated via </a:t>
            </a:r>
            <a:r>
              <a:rPr lang="en-US" sz="2400" b="1" dirty="0"/>
              <a:t>average daily usage × surge factor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LOS-driven</a:t>
            </a:r>
            <a:r>
              <a:rPr lang="en-US" sz="2400" dirty="0"/>
              <a:t>: Accounts for patient days on CPAP.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Maintenance buffer</a:t>
            </a:r>
            <a:r>
              <a:rPr lang="en-US" sz="2400" dirty="0"/>
              <a:t>: Ensures functional availability (~3–5% device redundancy).</a:t>
            </a:r>
          </a:p>
          <a:p>
            <a:pPr>
              <a:buNone/>
            </a:pPr>
            <a:r>
              <a:rPr lang="en-US" sz="2400" b="1" i="1" dirty="0"/>
              <a:t>Protection mechanism</a:t>
            </a:r>
          </a:p>
          <a:p>
            <a:pPr>
              <a:buNone/>
            </a:pPr>
            <a:r>
              <a:rPr lang="en-US" sz="2400" i="1" dirty="0"/>
              <a:t>Eligible count is never lower than observed CPAP use. This avoids underestimating clinician-judged need.</a:t>
            </a:r>
          </a:p>
        </p:txBody>
      </p:sp>
    </p:spTree>
    <p:extLst>
      <p:ext uri="{BB962C8B-B14F-4D97-AF65-F5344CB8AC3E}">
        <p14:creationId xmlns:p14="http://schemas.microsoft.com/office/powerpoint/2010/main" val="441869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EDDDF-0D60-D53E-64EC-C2DEABACE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8220"/>
          </a:xfrm>
        </p:spPr>
        <p:txBody>
          <a:bodyPr/>
          <a:lstStyle/>
          <a:p>
            <a:r>
              <a:rPr lang="en-US" dirty="0"/>
              <a:t>How concurrent demand is modeled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47D12-2D33-3D39-AC21-1671CDA4C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187" y="1246173"/>
            <a:ext cx="10515600" cy="53677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Model </a:t>
            </a:r>
            <a:r>
              <a:rPr lang="en-US" b="1" dirty="0"/>
              <a:t>daily concurrency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For each day:</a:t>
            </a:r>
          </a:p>
          <a:p>
            <a:pPr lvl="1"/>
            <a:r>
              <a:rPr lang="en-US" dirty="0"/>
              <a:t>Identify all eligible babies admitted</a:t>
            </a:r>
          </a:p>
          <a:p>
            <a:pPr lvl="1"/>
            <a:r>
              <a:rPr lang="en-US" dirty="0"/>
              <a:t>Count those still admitted (admission ≤ day ≤ discharge)</a:t>
            </a:r>
          </a:p>
          <a:p>
            <a:pPr>
              <a:buNone/>
            </a:pPr>
            <a:r>
              <a:rPr lang="en-US" dirty="0"/>
              <a:t>This naturally accounts for:</a:t>
            </a:r>
          </a:p>
          <a:p>
            <a:pPr lvl="1"/>
            <a:r>
              <a:rPr lang="en-US" dirty="0"/>
              <a:t>Length of stay</a:t>
            </a:r>
          </a:p>
          <a:p>
            <a:pPr lvl="1"/>
            <a:r>
              <a:rPr lang="en-US" dirty="0"/>
              <a:t>Overlapping admissions</a:t>
            </a:r>
          </a:p>
          <a:p>
            <a:pPr lvl="1"/>
            <a:r>
              <a:rPr lang="en-US" dirty="0"/>
              <a:t>Congestion</a:t>
            </a:r>
          </a:p>
          <a:p>
            <a:pPr>
              <a:buNone/>
            </a:pPr>
            <a:r>
              <a:rPr lang="en-US" dirty="0"/>
              <a:t>We then compute:</a:t>
            </a:r>
          </a:p>
          <a:p>
            <a:pPr lvl="1"/>
            <a:r>
              <a:rPr lang="en-US" dirty="0"/>
              <a:t>Mean daily concurrent use</a:t>
            </a:r>
          </a:p>
          <a:p>
            <a:pPr lvl="1"/>
            <a:r>
              <a:rPr lang="en-US" dirty="0"/>
              <a:t>Peak daily concurrent use</a:t>
            </a:r>
          </a:p>
          <a:p>
            <a:pPr lvl="1"/>
            <a:r>
              <a:rPr lang="en-US" dirty="0"/>
              <a:t>Surge ratio (peak / average)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15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2BCBD-2976-2838-81BD-BAC9813F9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0588"/>
          </a:xfrm>
        </p:spPr>
        <p:txBody>
          <a:bodyPr/>
          <a:lstStyle/>
          <a:p>
            <a:r>
              <a:rPr lang="en-US" dirty="0"/>
              <a:t>Equipment adjustment factors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A96EE1-D87D-3335-FBBE-B8AB2EA91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374560"/>
              </p:ext>
            </p:extLst>
          </p:nvPr>
        </p:nvGraphicFramePr>
        <p:xfrm>
          <a:off x="838200" y="1409010"/>
          <a:ext cx="10515600" cy="365760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41196395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1253946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661458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182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Eligible (%) per weight 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High-performing facilities + expert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Median % used for formula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0636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LOS (days) per weight 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High-performing facilities + expert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Median LOS applied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4401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Surge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Operational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Median peak / average daily usage, capped at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7164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Maintenance buffer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Equipment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Fraction of non-functional devices (~3–5%)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0834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Monthly admissions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Facility-level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Summed across weight categories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3759306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CC4D85-E61D-0A69-3460-8DCA0F1A6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028" y="5607780"/>
            <a:ext cx="10515600" cy="80385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High-performing facilities (coverage &gt;80%) are being used for calibration to reduce bias.</a:t>
            </a:r>
          </a:p>
        </p:txBody>
      </p:sp>
    </p:spTree>
    <p:extLst>
      <p:ext uri="{BB962C8B-B14F-4D97-AF65-F5344CB8AC3E}">
        <p14:creationId xmlns:p14="http://schemas.microsoft.com/office/powerpoint/2010/main" val="3073589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C2180-AD79-E8A4-1496-14A0BC12E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 formula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D5D0A2-FDDF-AC09-B683-54A845139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381" y="1825625"/>
            <a:ext cx="11684899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CPAP devices needed </a:t>
            </a:r>
            <a:r>
              <a:rPr lang="en-US" dirty="0">
                <a:solidFill>
                  <a:srgbClr val="FF0000"/>
                </a:solidFill>
              </a:rPr>
              <a:t>= (Monthly admissions × % eligible × LOSdays / 30) × Surge factor × (1 + Maintenance buffer)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Step 1: Determine eligible patients by weight category and neonatal level.</a:t>
            </a:r>
          </a:p>
          <a:p>
            <a:pPr marL="0" indent="0">
              <a:buNone/>
            </a:pPr>
            <a:r>
              <a:rPr lang="en-US" dirty="0"/>
              <a:t>Step 2: Multiply by LOS → average daily concurrent patients.</a:t>
            </a:r>
          </a:p>
          <a:p>
            <a:pPr marL="0" indent="0">
              <a:buNone/>
            </a:pPr>
            <a:r>
              <a:rPr lang="en-US" dirty="0"/>
              <a:t>Step 3: Apply surge factor → accounts for peaks; level-specific.</a:t>
            </a:r>
          </a:p>
          <a:p>
            <a:pPr marL="0" indent="0">
              <a:buNone/>
            </a:pPr>
            <a:r>
              <a:rPr lang="en-US" dirty="0"/>
              <a:t>Step 4: Apply maintenance buffer → ensures functional devices available.</a:t>
            </a:r>
          </a:p>
        </p:txBody>
      </p:sp>
    </p:spTree>
    <p:extLst>
      <p:ext uri="{BB962C8B-B14F-4D97-AF65-F5344CB8AC3E}">
        <p14:creationId xmlns:p14="http://schemas.microsoft.com/office/powerpoint/2010/main" val="1195886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D5EC3-19D4-F4A0-F080-A02A82EBC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504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Parameter data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90FFEC-B38B-CADE-F198-B302995DCB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6886111"/>
              </p:ext>
            </p:extLst>
          </p:nvPr>
        </p:nvGraphicFramePr>
        <p:xfrm>
          <a:off x="1040501" y="3201949"/>
          <a:ext cx="10515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07655051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937110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4452093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13235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Weight band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% Eligible (median IQR)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997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&lt;1000g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 (99-100)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867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1000-1499g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 (100-100)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7614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1500-1999g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 (19-44)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081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2000-2499g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 (10-31)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065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2500-4000g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 (6-19)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896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&gt;4000g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 (11-30)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04161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740F67F-ED2F-9A41-8E8E-AC15F0EADE35}"/>
              </a:ext>
            </a:extLst>
          </p:cNvPr>
          <p:cNvSpPr txBox="1"/>
          <p:nvPr/>
        </p:nvSpPr>
        <p:spPr>
          <a:xfrm>
            <a:off x="765372" y="1326128"/>
            <a:ext cx="110732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Using top coverage performers (80-100%)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They reflect better CPAP device needs, picking from both CPAP eligible by analysis and CPAPs done by clinical judgement  </a:t>
            </a:r>
          </a:p>
        </p:txBody>
      </p:sp>
    </p:spTree>
    <p:extLst>
      <p:ext uri="{BB962C8B-B14F-4D97-AF65-F5344CB8AC3E}">
        <p14:creationId xmlns:p14="http://schemas.microsoft.com/office/powerpoint/2010/main" val="253854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17A47-1DE9-698C-7D0B-6C380AA76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A85C6-3A13-0E1E-2343-AE7B06013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Parameter data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60B26C-CD9D-6E75-BFDA-E250E4E556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78292"/>
              </p:ext>
            </p:extLst>
          </p:nvPr>
        </p:nvGraphicFramePr>
        <p:xfrm>
          <a:off x="1291352" y="2367790"/>
          <a:ext cx="7796004" cy="2107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8002">
                  <a:extLst>
                    <a:ext uri="{9D8B030D-6E8A-4147-A177-3AD203B41FA5}">
                      <a16:colId xmlns:a16="http://schemas.microsoft.com/office/drawing/2014/main" val="1076550515"/>
                    </a:ext>
                  </a:extLst>
                </a:gridCol>
                <a:gridCol w="3898002">
                  <a:extLst>
                    <a:ext uri="{9D8B030D-6E8A-4147-A177-3AD203B41FA5}">
                      <a16:colId xmlns:a16="http://schemas.microsoft.com/office/drawing/2014/main" val="1493711009"/>
                    </a:ext>
                  </a:extLst>
                </a:gridCol>
              </a:tblGrid>
              <a:tr h="526776">
                <a:tc>
                  <a:txBody>
                    <a:bodyPr/>
                    <a:lstStyle/>
                    <a:p>
                      <a:r>
                        <a:rPr lang="en-US" sz="2400" dirty="0"/>
                        <a:t>Level of neonatal care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% admissions eligible*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997390"/>
                  </a:ext>
                </a:extLst>
              </a:tr>
              <a:tr h="526776">
                <a:tc>
                  <a:txBody>
                    <a:bodyPr/>
                    <a:lstStyle/>
                    <a:p>
                      <a:r>
                        <a:rPr lang="en-US" sz="2400" dirty="0"/>
                        <a:t>Level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867230"/>
                  </a:ext>
                </a:extLst>
              </a:tr>
              <a:tr h="526776">
                <a:tc>
                  <a:txBody>
                    <a:bodyPr/>
                    <a:lstStyle/>
                    <a:p>
                      <a:r>
                        <a:rPr lang="en-US" sz="2400" dirty="0"/>
                        <a:t>Level 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7614448"/>
                  </a:ext>
                </a:extLst>
              </a:tr>
              <a:tr h="526776">
                <a:tc>
                  <a:txBody>
                    <a:bodyPr/>
                    <a:lstStyle/>
                    <a:p>
                      <a:r>
                        <a:rPr lang="en-US" sz="2400" dirty="0"/>
                        <a:t>Level 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0810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8C00C37-1205-0FA5-C60A-E7688C10A2D2}"/>
              </a:ext>
            </a:extLst>
          </p:cNvPr>
          <p:cNvSpPr txBox="1"/>
          <p:nvPr/>
        </p:nvSpPr>
        <p:spPr>
          <a:xfrm>
            <a:off x="894844" y="1617441"/>
            <a:ext cx="8642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Using top coverage performers (80-100%)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731365-6362-960C-AC69-C6404B34B218}"/>
              </a:ext>
            </a:extLst>
          </p:cNvPr>
          <p:cNvSpPr txBox="1"/>
          <p:nvPr/>
        </p:nvSpPr>
        <p:spPr>
          <a:xfrm>
            <a:off x="838200" y="4640394"/>
            <a:ext cx="9734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Surge factor: 2.7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Buffer for device maintenance: +3.4% - from NEST360 devices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Length of hospital stay: 5 days  | Length of stay under CPAP?</a:t>
            </a:r>
          </a:p>
        </p:txBody>
      </p:sp>
    </p:spTree>
    <p:extLst>
      <p:ext uri="{BB962C8B-B14F-4D97-AF65-F5344CB8AC3E}">
        <p14:creationId xmlns:p14="http://schemas.microsoft.com/office/powerpoint/2010/main" val="2463610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0BED9-3CAB-4650-7F73-2EE28040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2956"/>
          </a:xfrm>
        </p:spPr>
        <p:txBody>
          <a:bodyPr/>
          <a:lstStyle/>
          <a:p>
            <a:r>
              <a:rPr lang="en-US" b="1" dirty="0"/>
              <a:t>Scope, use &amp; limitations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76CE8-502E-3DA5-6959-D79C4F45E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8082"/>
            <a:ext cx="10515600" cy="4938881"/>
          </a:xfrm>
        </p:spPr>
        <p:txBody>
          <a:bodyPr>
            <a:normAutofit/>
          </a:bodyPr>
          <a:lstStyle/>
          <a:p>
            <a:r>
              <a:rPr lang="en-US" sz="2400" dirty="0"/>
              <a:t>Level-dependent calibration: Most reliable for hospitals similar to high-performing facilities of same neonatal care level.</a:t>
            </a:r>
          </a:p>
          <a:p>
            <a:r>
              <a:rPr lang="en-US" sz="2400" dirty="0"/>
              <a:t>Case mix variability: Extreme deviations in weight distribution or acuity may reduce accuracy.</a:t>
            </a:r>
          </a:p>
          <a:p>
            <a:r>
              <a:rPr lang="en-US" sz="2400" dirty="0"/>
              <a:t>Surge and LOS assumptions: Median values used; actual peaks may differ by level.</a:t>
            </a:r>
          </a:p>
          <a:p>
            <a:r>
              <a:rPr lang="en-US" sz="2400" dirty="0"/>
              <a:t>Maintenance/functional rates: Facility-specific equipment may change needs.</a:t>
            </a:r>
          </a:p>
          <a:p>
            <a:r>
              <a:rPr lang="en-US" sz="2400" dirty="0"/>
              <a:t>Daily counts vs. formula: Formula estimates average/peak, not individual patient tracking.</a:t>
            </a:r>
          </a:p>
          <a:p>
            <a:r>
              <a:rPr lang="en-US" sz="2400" dirty="0"/>
              <a:t>Recommendation: Use as planning tool, not operational prescription; update parameters with local data, stratified by neonatal care level.</a:t>
            </a:r>
          </a:p>
        </p:txBody>
      </p:sp>
    </p:spTree>
    <p:extLst>
      <p:ext uri="{BB962C8B-B14F-4D97-AF65-F5344CB8AC3E}">
        <p14:creationId xmlns:p14="http://schemas.microsoft.com/office/powerpoint/2010/main" val="3228946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E67FB-E29C-2463-F175-3944FE782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684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Demonstration + comparison with other tools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29B46F2-0E46-F4C1-FD99-51B9143238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860060"/>
              </p:ext>
            </p:extLst>
          </p:nvPr>
        </p:nvGraphicFramePr>
        <p:xfrm>
          <a:off x="838200" y="1825625"/>
          <a:ext cx="10585704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2704">
                  <a:extLst>
                    <a:ext uri="{9D8B030D-6E8A-4147-A177-3AD203B41FA5}">
                      <a16:colId xmlns:a16="http://schemas.microsoft.com/office/drawing/2014/main" val="403148687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51331151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7921693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7958407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2269907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55159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Hospital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Admissions</a:t>
                      </a:r>
                    </a:p>
                    <a:p>
                      <a:r>
                        <a:rPr lang="en-US" dirty="0"/>
                        <a:t>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ABC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NEST tool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NEST tool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Current CPAPs installed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159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304 - </a:t>
                      </a:r>
                      <a:r>
                        <a:rPr lang="en-US" dirty="0" err="1"/>
                        <a:t>Mloganzila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054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307 – Temeke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15-38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420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323 - </a:t>
                      </a:r>
                      <a:r>
                        <a:rPr lang="en-US" dirty="0" err="1"/>
                        <a:t>Ubungo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468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7650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B26DE-58EB-9052-52D2-DB15E990B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8220"/>
          </a:xfrm>
        </p:spPr>
        <p:txBody>
          <a:bodyPr/>
          <a:lstStyle/>
          <a:p>
            <a:r>
              <a:rPr lang="en-US" b="1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80486-1D5B-9DA5-A129-F9E6B12DC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7094"/>
            <a:ext cx="10515600" cy="4849869"/>
          </a:xfrm>
        </p:spPr>
        <p:txBody>
          <a:bodyPr/>
          <a:lstStyle/>
          <a:p>
            <a:r>
              <a:rPr lang="en-US" dirty="0"/>
              <a:t>Are the % eligible by levels of care reasonable from your experiences?</a:t>
            </a:r>
          </a:p>
          <a:p>
            <a:r>
              <a:rPr lang="en-US" dirty="0"/>
              <a:t>Could volume of admissions in either of the levels influence the % in 1 above? Especially level I and II?</a:t>
            </a:r>
          </a:p>
          <a:p>
            <a:r>
              <a:rPr lang="en-US" dirty="0"/>
              <a:t>Surge factor: Should it vary by facility care level?</a:t>
            </a:r>
          </a:p>
          <a:p>
            <a:r>
              <a:rPr lang="en-US" dirty="0"/>
              <a:t>Length of stay (LOS):</a:t>
            </a:r>
          </a:p>
          <a:p>
            <a:pPr lvl="1"/>
            <a:r>
              <a:rPr lang="en-US" dirty="0"/>
              <a:t>thoughts on use of overall patient LOS (5 days) ?</a:t>
            </a:r>
          </a:p>
          <a:p>
            <a:pPr lvl="1"/>
            <a:r>
              <a:rPr lang="en-US" dirty="0"/>
              <a:t>appreciate death as a competing risk</a:t>
            </a:r>
          </a:p>
          <a:p>
            <a:pPr lvl="1"/>
            <a:r>
              <a:rPr lang="en-US" dirty="0"/>
              <a:t>under-treatment noted in Malawi (last year – time to CPAP analysis).</a:t>
            </a:r>
          </a:p>
        </p:txBody>
      </p:sp>
    </p:spTree>
    <p:extLst>
      <p:ext uri="{BB962C8B-B14F-4D97-AF65-F5344CB8AC3E}">
        <p14:creationId xmlns:p14="http://schemas.microsoft.com/office/powerpoint/2010/main" val="4018328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AB90E-4464-1086-5D76-99A01E850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0588"/>
          </a:xfrm>
        </p:spPr>
        <p:txBody>
          <a:bodyPr/>
          <a:lstStyle/>
          <a:p>
            <a:r>
              <a:rPr lang="en-US" b="1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69DC2-74EB-395A-DF63-956194E21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278"/>
            <a:ext cx="10515600" cy="4833685"/>
          </a:xfrm>
        </p:spPr>
        <p:txBody>
          <a:bodyPr/>
          <a:lstStyle/>
          <a:p>
            <a:r>
              <a:rPr lang="en-US" dirty="0"/>
              <a:t>Improve the tool based on today’s discussion</a:t>
            </a:r>
          </a:p>
          <a:p>
            <a:r>
              <a:rPr lang="en-US" dirty="0"/>
              <a:t>Implement an excel based calculator</a:t>
            </a:r>
          </a:p>
          <a:p>
            <a:r>
              <a:rPr lang="en-US" dirty="0"/>
              <a:t>Start on other device categories with general learnings from CPAP and device category specific nuances.</a:t>
            </a:r>
          </a:p>
        </p:txBody>
      </p:sp>
    </p:spTree>
    <p:extLst>
      <p:ext uri="{BB962C8B-B14F-4D97-AF65-F5344CB8AC3E}">
        <p14:creationId xmlns:p14="http://schemas.microsoft.com/office/powerpoint/2010/main" val="4164352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798</Words>
  <Application>Microsoft Office PowerPoint</Application>
  <PresentationFormat>Widescreen</PresentationFormat>
  <Paragraphs>140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CPAP Calculator Development</vt:lpstr>
      <vt:lpstr>Objective &amp; conceptual framework</vt:lpstr>
      <vt:lpstr>Principles of the calculator</vt:lpstr>
      <vt:lpstr>How concurrent demand is modeled</vt:lpstr>
      <vt:lpstr>Equipment adjustment factors</vt:lpstr>
      <vt:lpstr>Estimation formula</vt:lpstr>
      <vt:lpstr>Parameter data</vt:lpstr>
      <vt:lpstr>Parameter data</vt:lpstr>
      <vt:lpstr>Scope, use &amp; limitations</vt:lpstr>
      <vt:lpstr>Demonstration + comparison with other tools</vt:lpstr>
      <vt:lpstr>Discussion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Mwangi</dc:creator>
  <cp:lastModifiedBy>John Mwangi</cp:lastModifiedBy>
  <cp:revision>1</cp:revision>
  <dcterms:created xsi:type="dcterms:W3CDTF">2026-02-24T09:14:21Z</dcterms:created>
  <dcterms:modified xsi:type="dcterms:W3CDTF">2026-03-05T11:06:25Z</dcterms:modified>
</cp:coreProperties>
</file>